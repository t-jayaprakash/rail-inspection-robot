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4" r:id="rId3"/>
    <p:sldMasterId id="2147483699" r:id="rId4"/>
  </p:sldMasterIdLst>
  <p:notesMasterIdLst>
    <p:notesMasterId r:id="rId37"/>
  </p:notesMasterIdLst>
  <p:handoutMasterIdLst>
    <p:handoutMasterId r:id="rId38"/>
  </p:handoutMasterIdLst>
  <p:sldIdLst>
    <p:sldId id="282" r:id="rId5"/>
    <p:sldId id="285" r:id="rId6"/>
    <p:sldId id="257" r:id="rId7"/>
    <p:sldId id="258" r:id="rId8"/>
    <p:sldId id="280" r:id="rId9"/>
    <p:sldId id="286" r:id="rId10"/>
    <p:sldId id="287" r:id="rId11"/>
    <p:sldId id="288" r:id="rId12"/>
    <p:sldId id="289" r:id="rId13"/>
    <p:sldId id="263" r:id="rId14"/>
    <p:sldId id="265" r:id="rId15"/>
    <p:sldId id="267" r:id="rId16"/>
    <p:sldId id="268" r:id="rId17"/>
    <p:sldId id="331" r:id="rId18"/>
    <p:sldId id="345" r:id="rId19"/>
    <p:sldId id="346" r:id="rId20"/>
    <p:sldId id="347" r:id="rId21"/>
    <p:sldId id="348" r:id="rId22"/>
    <p:sldId id="349" r:id="rId23"/>
    <p:sldId id="279" r:id="rId24"/>
    <p:sldId id="334" r:id="rId25"/>
    <p:sldId id="336" r:id="rId26"/>
    <p:sldId id="350" r:id="rId27"/>
    <p:sldId id="351" r:id="rId28"/>
    <p:sldId id="352" r:id="rId29"/>
    <p:sldId id="353" r:id="rId30"/>
    <p:sldId id="277" r:id="rId31"/>
    <p:sldId id="276" r:id="rId32"/>
    <p:sldId id="304" r:id="rId33"/>
    <p:sldId id="343" r:id="rId34"/>
    <p:sldId id="344" r:id="rId35"/>
    <p:sldId id="327" r:id="rId3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8ADC3-DB64-4AB9-B0BD-6AE1F43FB7C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111EE-544F-482E-9D02-BBF229B7888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ABA89-425F-4723-84D5-3C64D59B2DF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B047C-FBB4-4F87-9508-C54A5D12809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6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2135"/>
              </a:spcBef>
              <a:spcAft>
                <a:spcPts val="2135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609600" lvl="0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200" lvl="1" indent="-406400">
              <a:spcBef>
                <a:spcPts val="2135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ts val="2135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>
              <a:spcBef>
                <a:spcPts val="2135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>
              <a:spcBef>
                <a:spcPts val="2135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>
              <a:spcBef>
                <a:spcPts val="2135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>
              <a:spcBef>
                <a:spcPts val="2135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ts val="2135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ts val="2135"/>
              </a:spcBef>
              <a:spcAft>
                <a:spcPts val="2135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2135"/>
              </a:spcBef>
              <a:spcAft>
                <a:spcPts val="2135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Google Shape;40;p9"/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marL="6096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609600" lvl="0" indent="-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ctr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ctr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ctr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ctr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ctr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ctr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ctr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ctr">
              <a:spcBef>
                <a:spcPts val="2135"/>
              </a:spcBef>
              <a:spcAft>
                <a:spcPts val="2135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/>
          <p:cNvSpPr txBox="1">
            <a:spLocks noGrp="1" noChangeArrowheads="1"/>
          </p:cNvSpPr>
          <p:nvPr>
            <p:ph type="sldNum" idx="13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 ">
  <p:cSld name="IT 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3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52;p13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Information Technology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1998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53;p1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54;p13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55;p1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lIns="68575" tIns="34275" rIns="68575" bIns="34275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68575" tIns="34275" rIns="68575" bIns="34275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2135"/>
              </a:spcBef>
              <a:spcAft>
                <a:spcPts val="2135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Title and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lIns="68575" tIns="34275" rIns="68575" bIns="34275" anchor="ctr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lIns="68575" tIns="34275" rIns="68575" bIns="34275">
            <a:noAutofit/>
          </a:bodyPr>
          <a:lstStyle>
            <a:lvl1pPr marL="609600" lvl="0" indent="-423545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marL="1219200" lvl="1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marL="1828800" lvl="2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marL="2438400" lvl="3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marL="3048000" lvl="4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marL="3657600" lvl="5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200" lvl="6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800" lvl="7" indent="-423545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400" lvl="8" indent="-423545" algn="l" rtl="0">
              <a:lnSpc>
                <a:spcPct val="90000"/>
              </a:lnSpc>
              <a:spcBef>
                <a:spcPts val="2135"/>
              </a:spcBef>
              <a:spcAft>
                <a:spcPts val="2135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61;p14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lIns="68575" tIns="34275" rIns="68575" bIns="34275"/>
          <a:lstStyle>
            <a:lvl1pPr>
              <a:defRPr/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 Title and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;p15"/>
          <p:cNvSpPr>
            <a:spLocks noChangeArrowheads="1"/>
          </p:cNvSpPr>
          <p:nvPr/>
        </p:nvSpPr>
        <p:spPr bwMode="auto">
          <a:xfrm>
            <a:off x="772585" y="6307667"/>
            <a:ext cx="6648449" cy="34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65;p15"/>
          <p:cNvSpPr>
            <a:spLocks noChangeArrowheads="1"/>
          </p:cNvSpPr>
          <p:nvPr/>
        </p:nvSpPr>
        <p:spPr bwMode="auto">
          <a:xfrm>
            <a:off x="10996084" y="0"/>
            <a:ext cx="1083733" cy="1051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pic>
        <p:nvPicPr>
          <p:cNvPr id="4" name="Google Shape;66;p15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64;p15"/>
          <p:cNvSpPr txBox="1">
            <a:spLocks noGrp="1" noChangeArrowheads="1"/>
          </p:cNvSpPr>
          <p:nvPr>
            <p:ph type="sldNum" idx="10"/>
          </p:nvPr>
        </p:nvSpPr>
        <p:spPr>
          <a:xfrm>
            <a:off x="11408834" y="6333067"/>
            <a:ext cx="732367" cy="524933"/>
          </a:xfrm>
        </p:spPr>
        <p:txBody>
          <a:bodyPr anchor="t"/>
          <a:lstStyle>
            <a:lvl1pPr>
              <a:defRPr sz="1735">
                <a:latin typeface="Montserrat" charset="0"/>
                <a:cs typeface="Montserrat" charset="0"/>
                <a:sym typeface="Montserrat" charset="0"/>
              </a:defRPr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6B9-3B3F-404F-BC27-5F6438CFFBEE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1CE9-8CA0-4953-A363-85DFF0764E9E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Aero ">
  <p:cSld name="Aero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7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76;p17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Aeronautical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2006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77;p17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78;p17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79;p1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uto">
  <p:cSld name="Auto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3;p18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84;p18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Automobile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2011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85;p18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86;p18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87;p1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Google Shape;88;p18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io-tech">
  <p:cSld name="Bio-tech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19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92;p19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Bio-Technology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2002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93;p19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94;p19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95;p1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Google Shape;96;p19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ivil ">
  <p:cSld name="Civil 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;p20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00;p20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Civil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2003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01;p20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02;p20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03;p2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Google Shape;104;p20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MCA ">
  <p:cSld name="MCA 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08;p21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Computer Application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1993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09;p2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10;p21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11;p2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" name="Google Shape;112;p21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" name="Google Shape;113;p21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SE ">
  <p:cSld name="CSE 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2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16;p22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Computer Science &amp;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1987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17;p2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18;p22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19;p2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Google Shape;120;p22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EEE ">
  <p:cSld name="EEE 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23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24;p23"/>
          <p:cNvSpPr txBox="1"/>
          <p:nvPr/>
        </p:nvSpPr>
        <p:spPr>
          <a:xfrm>
            <a:off x="3889635" y="609600"/>
            <a:ext cx="45944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Electrical &amp; Electronics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25;p2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26;p23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27;p2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" name="Google Shape;128;p23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" name="Google Shape;129;p23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ECE ">
  <p:cSld name="ECE 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24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32;p24"/>
          <p:cNvSpPr txBox="1"/>
          <p:nvPr/>
        </p:nvSpPr>
        <p:spPr>
          <a:xfrm>
            <a:off x="3889633" y="406396"/>
            <a:ext cx="4076000" cy="12552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Electronics &amp; Communication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1987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33;p2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223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34;p24"/>
          <p:cNvCxnSpPr>
            <a:cxnSpLocks noChangeShapeType="1"/>
          </p:cNvCxnSpPr>
          <p:nvPr/>
        </p:nvCxnSpPr>
        <p:spPr bwMode="auto">
          <a:xfrm>
            <a:off x="3723217" y="6350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35;p2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" name="Google Shape;136;p24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" name="Google Shape;137;p24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EIE ">
  <p:cSld name="EIE 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5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40;p25"/>
          <p:cNvSpPr txBox="1"/>
          <p:nvPr/>
        </p:nvSpPr>
        <p:spPr>
          <a:xfrm>
            <a:off x="3889627" y="4461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Electronics &amp; Instrumentation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2006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41;p25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704852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42;p25"/>
          <p:cNvCxnSpPr>
            <a:cxnSpLocks noChangeShapeType="1"/>
          </p:cNvCxnSpPr>
          <p:nvPr/>
        </p:nvCxnSpPr>
        <p:spPr bwMode="auto">
          <a:xfrm>
            <a:off x="3723217" y="7175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43;p2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" name="Google Shape;144;p25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FT ">
  <p:cSld name="FT 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;p2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48;p26"/>
          <p:cNvSpPr txBox="1"/>
          <p:nvPr/>
        </p:nvSpPr>
        <p:spPr>
          <a:xfrm>
            <a:off x="3889627" y="5080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Fashion Technology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2002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49;p26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5630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50;p26"/>
          <p:cNvCxnSpPr>
            <a:cxnSpLocks noChangeShapeType="1"/>
          </p:cNvCxnSpPr>
          <p:nvPr/>
        </p:nvCxnSpPr>
        <p:spPr bwMode="auto">
          <a:xfrm>
            <a:off x="3723217" y="5778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51;p2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Google Shape;152;p26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" name="Google Shape;153;p26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ISE ">
  <p:cSld name="ISE 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5;p27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56;p27"/>
          <p:cNvSpPr txBox="1"/>
          <p:nvPr/>
        </p:nvSpPr>
        <p:spPr>
          <a:xfrm>
            <a:off x="3889627" y="4912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Information Science &amp;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2018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57;p27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749301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58;p27"/>
          <p:cNvCxnSpPr>
            <a:cxnSpLocks noChangeShapeType="1"/>
          </p:cNvCxnSpPr>
          <p:nvPr/>
        </p:nvCxnSpPr>
        <p:spPr bwMode="auto">
          <a:xfrm>
            <a:off x="3723217" y="764117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59;p2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" name="Google Shape;160;p27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" name="Google Shape;161;p27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IT ">
  <p:cSld name="IT 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28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64;p28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Information Technology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1998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65;p28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66;p28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67;p2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" name="Google Shape;168;p28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" name="Google Shape;169;p28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MBA ">
  <p:cSld name="MBA 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1;p29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72;p29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Management Studies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2009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73;p29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74;p29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75;p2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" name="Google Shape;176;p29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" name="Google Shape;177;p29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Mech ">
  <p:cSld name="Mech 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9;p30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80;p30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Mechanical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81;p30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82;p30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83;p3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" name="Google Shape;184;p30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" name="Google Shape;185;p30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Mechatronics ">
  <p:cSld name="Mechatronics 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7;p3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88;p31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Mechatronics Engineering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1999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89;p3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90;p31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91;p3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" name="Google Shape;192;p31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" name="Google Shape;193;p31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&amp;H physics ">
  <p:cSld name="S&amp;H physics 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5;p32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196;p32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Science &amp; Humanities - Physics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197;p3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198;p32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199;p3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" name="Google Shape;200;p32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" name="Google Shape;201;p32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&amp;H chemistry ">
  <p:cSld name="S&amp;H chemistry 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3;p33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04;p33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Science &amp; Humanities - Chemistry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05;p3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06;p33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07;p3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" name="Google Shape;208;p33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" name="Google Shape;209;p33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&amp;H Maths ">
  <p:cSld name="S&amp;H Maths 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1;p34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12;p34"/>
          <p:cNvSpPr txBox="1"/>
          <p:nvPr/>
        </p:nvSpPr>
        <p:spPr>
          <a:xfrm>
            <a:off x="3889635" y="604767"/>
            <a:ext cx="4614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Science &amp; Humanities - Mathematics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13;p3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14;p34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15;p3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" name="Google Shape;216;p34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7" name="Google Shape;217;p34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&amp;H English ">
  <p:cSld name="S&amp;H English 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9;p35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20;p35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Science &amp; Humanities - English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21;p35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22;p35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23;p3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" name="Google Shape;224;p35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5" name="Google Shape;225;p35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XT ">
  <p:cSld name="TXT 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7;p3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28;p36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Textile Technology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1995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29;p36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30;p36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31;p3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2" name="Google Shape;232;p36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3" name="Google Shape;233;p36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Exam cell ">
  <p:cSld name="Exam cell 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5;p37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36;p37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Examination Cell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37;p37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38;p37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39;p3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0" name="Google Shape;240;p37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1" name="Google Shape;241;p37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Human Excellence ">
  <p:cSld name="Human Excellence 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3;p38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44;p38"/>
          <p:cNvSpPr txBox="1"/>
          <p:nvPr/>
        </p:nvSpPr>
        <p:spPr>
          <a:xfrm>
            <a:off x="3889627" y="609600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Human Excellence 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2009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45;p38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4634"/>
            <a:ext cx="2717800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46;p38"/>
          <p:cNvCxnSpPr>
            <a:cxnSpLocks noChangeShapeType="1"/>
          </p:cNvCxnSpPr>
          <p:nvPr/>
        </p:nvCxnSpPr>
        <p:spPr bwMode="auto">
          <a:xfrm>
            <a:off x="3723217" y="679451"/>
            <a:ext cx="0" cy="759883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47;p3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8" name="Google Shape;248;p38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9" name="Google Shape;249;p38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Library ">
  <p:cSld name="Library 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1;p39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52;p39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Library 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53;p39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54;p39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55;p3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Google Shape;256;p39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7" name="Google Shape;257;p39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PED ">
  <p:cSld name="PED 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9;p40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60;p40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Physical Education 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1984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61;p40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62;p40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63;p4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2" t="10147" r="13428" b="27563"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4" name="Google Shape;264;p40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5" name="Google Shape;265;p40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ivekananda ">
  <p:cSld name="vivekananda 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7;p4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268;p41"/>
          <p:cNvSpPr txBox="1"/>
          <p:nvPr/>
        </p:nvSpPr>
        <p:spPr>
          <a:xfrm>
            <a:off x="3889627" y="604767"/>
            <a:ext cx="407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121900" rIns="121900" bIns="1219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kern="0">
                <a:latin typeface="Montserrat"/>
                <a:ea typeface="Montserrat"/>
                <a:cs typeface="Montserrat"/>
                <a:sym typeface="Montserrat"/>
              </a:rPr>
              <a:t>Department of </a:t>
            </a: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735" b="1" kern="0">
                <a:latin typeface="Montserrat"/>
                <a:ea typeface="Montserrat"/>
                <a:cs typeface="Montserrat"/>
                <a:sym typeface="Montserrat"/>
              </a:rPr>
              <a:t>Swami Vivekananda Study Centre 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GB" sz="1400" kern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Since 2011</a:t>
            </a:r>
            <a:endParaRPr sz="1735" b="1" kern="0">
              <a:latin typeface="Montserrat"/>
              <a:ea typeface="Montserrat"/>
              <a:cs typeface="Montserrat"/>
              <a:sym typeface="Montserra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1735" kern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Google Shape;269;p4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67" y="660401"/>
            <a:ext cx="2717800" cy="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270;p41"/>
          <p:cNvCxnSpPr>
            <a:cxnSpLocks noChangeShapeType="1"/>
          </p:cNvCxnSpPr>
          <p:nvPr/>
        </p:nvCxnSpPr>
        <p:spPr bwMode="auto">
          <a:xfrm>
            <a:off x="3723217" y="673101"/>
            <a:ext cx="0" cy="759884"/>
          </a:xfrm>
          <a:prstGeom prst="straightConnector1">
            <a:avLst/>
          </a:prstGeom>
          <a:noFill/>
          <a:ln w="9525">
            <a:solidFill>
              <a:srgbClr val="1E284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Google Shape;271;p4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818" y="0"/>
            <a:ext cx="354118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2" name="Google Shape;272;p41"/>
          <p:cNvSpPr txBox="1">
            <a:spLocks noGrp="1"/>
          </p:cNvSpPr>
          <p:nvPr>
            <p:ph type="ctrTitle"/>
          </p:nvPr>
        </p:nvSpPr>
        <p:spPr>
          <a:xfrm>
            <a:off x="634400" y="2792000"/>
            <a:ext cx="8016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3" name="Google Shape;273;p41"/>
          <p:cNvSpPr txBox="1">
            <a:spLocks noGrp="1"/>
          </p:cNvSpPr>
          <p:nvPr>
            <p:ph type="subTitle" idx="1"/>
          </p:nvPr>
        </p:nvSpPr>
        <p:spPr>
          <a:xfrm>
            <a:off x="634400" y="5271668"/>
            <a:ext cx="8016000" cy="81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5"/>
            </a:lvl3pPr>
            <a:lvl4pPr lvl="3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matchingName="Title and Content">
  <p:cSld name="Title and Content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6" name="Google Shape;276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423545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200" lvl="1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800" lvl="2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400" lvl="3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8000" lvl="4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600" lvl="5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200" lvl="6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800" lvl="7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400" lvl="8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277;p42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E4A585B4-3EB6-4B0E-A78C-0588D064D53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>
            <a:spLocks noGrp="1"/>
          </p:cNvSpPr>
          <p:nvPr>
            <p:ph type="title"/>
          </p:nvPr>
        </p:nvSpPr>
        <p:spPr>
          <a:xfrm>
            <a:off x="831851" y="-536751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 panose="020F0502020204030204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0" name="Google Shape;280;p43"/>
          <p:cNvSpPr txBox="1">
            <a:spLocks noGrp="1"/>
          </p:cNvSpPr>
          <p:nvPr>
            <p:ph type="body" idx="1"/>
          </p:nvPr>
        </p:nvSpPr>
        <p:spPr>
          <a:xfrm>
            <a:off x="831851" y="2342975"/>
            <a:ext cx="10515600" cy="15000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304800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200" lvl="1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800" lvl="2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5">
                <a:solidFill>
                  <a:srgbClr val="888888"/>
                </a:solidFill>
              </a:defRPr>
            </a:lvl3pPr>
            <a:lvl4pPr marL="2438400" lvl="3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8000" lvl="4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600" lvl="5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200" lvl="6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800" lvl="7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400" lvl="8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281;p43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CF344F23-75EE-428A-9A27-E205E92C592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matchingName="Two Content">
  <p:cSld name="Two Content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4" name="Google Shape;284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423545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200" lvl="1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800" lvl="2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400" lvl="3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8000" lvl="4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600" lvl="5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200" lvl="6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800" lvl="7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400" lvl="8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5" name="Google Shape;285;p4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423545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200" lvl="1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800" lvl="2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400" lvl="3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8000" lvl="4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600" lvl="5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200" lvl="6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800" lvl="7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400" lvl="8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286;p44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C3CDC730-C479-48DE-9687-D6EC1D83AD3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matchingName="Content with Caption">
  <p:cSld name="Content with Caption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 panose="020F0502020204030204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9" name="Google Shape;289;p4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508000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3200"/>
            </a:lvl1pPr>
            <a:lvl2pPr marL="1219200" lvl="1" indent="-4826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800"/>
            </a:lvl2pPr>
            <a:lvl3pPr marL="1828800" lvl="2" indent="-4572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400"/>
            </a:lvl3pPr>
            <a:lvl4pPr marL="2438400" lvl="3" indent="-431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2000"/>
            </a:lvl4pPr>
            <a:lvl5pPr marL="3048000" lvl="4" indent="-431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2000"/>
            </a:lvl5pPr>
            <a:lvl6pPr marL="3657600" lvl="5" indent="-431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7200" lvl="6" indent="-431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800" lvl="7" indent="-431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400" lvl="8" indent="-431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0" name="Google Shape;290;p4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304800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1pPr>
            <a:lvl2pPr marL="1219200" lvl="1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65"/>
            </a:lvl2pPr>
            <a:lvl3pPr marL="1828800" lvl="2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/>
            </a:lvl3pPr>
            <a:lvl4pPr marL="2438400" lvl="3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1065"/>
            </a:lvl4pPr>
            <a:lvl5pPr marL="3048000" lvl="4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1065"/>
            </a:lvl5pPr>
            <a:lvl6pPr marL="3657600" lvl="5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6pPr>
            <a:lvl7pPr marL="4267200" lvl="6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7pPr>
            <a:lvl8pPr marL="4876800" lvl="7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8pPr>
            <a:lvl9pPr marL="5486400" lvl="8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291;p45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C9184E6E-FDDF-4CB3-B452-8EEFEF4BDD4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matchingName="Picture with Caption">
  <p:cSld name="Picture with Caption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 panose="020F0502020204030204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" name="Google Shape;294;p4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304800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1pPr>
            <a:lvl2pPr marL="1219200" lvl="1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65"/>
            </a:lvl2pPr>
            <a:lvl3pPr marL="1828800" lvl="2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1200"/>
            </a:lvl3pPr>
            <a:lvl4pPr marL="2438400" lvl="3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1065"/>
            </a:lvl4pPr>
            <a:lvl5pPr marL="3048000" lvl="4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1065"/>
            </a:lvl5pPr>
            <a:lvl6pPr marL="3657600" lvl="5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6pPr>
            <a:lvl7pPr marL="4267200" lvl="6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7pPr>
            <a:lvl8pPr marL="4876800" lvl="7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8pPr>
            <a:lvl9pPr marL="5486400" lvl="8" indent="-304800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295;p46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307918C4-C9C0-4875-94A4-DB802ABDB7E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lank">
  <p:cSld name="Blank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7;p47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1139CA09-FE37-4CD0-97F9-49068379F06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matchingName="Title Only">
  <p:cSld name="Title Only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" name="Google Shape;307;p49"/>
          <p:cNvSpPr txBox="1">
            <a:spLocks noGrp="1" noChangeArrowheads="1"/>
          </p:cNvSpPr>
          <p:nvPr>
            <p:ph type="sldNum" idx="10"/>
          </p:nvPr>
        </p:nvSpPr>
        <p:spPr>
          <a:xfrm>
            <a:off x="10606618" y="6318251"/>
            <a:ext cx="747183" cy="36406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7AB550AE-C73C-4438-93E3-801E397CF14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matchingName="Title and Vertical Text">
  <p:cSld name="Title and Vertical 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0" name="Google Shape;310;p5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609600" lvl="0" indent="-423545" algn="l" rtl="0">
              <a:lnSpc>
                <a:spcPct val="90000"/>
              </a:lnSpc>
              <a:spcBef>
                <a:spcPts val="106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200" lvl="1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800" lvl="2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400" lvl="3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8000" lvl="4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600" lvl="5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200" lvl="6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800" lvl="7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400" lvl="8" indent="-423545" algn="l" rtl="0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Google Shape;311;p50"/>
          <p:cNvSpPr txBox="1">
            <a:spLocks noGrp="1" noChangeArrowheads="1"/>
          </p:cNvSpPr>
          <p:nvPr>
            <p:ph type="sldNum" idx="10"/>
          </p:nvPr>
        </p:nvSpPr>
        <p:spPr/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2EF5E9E6-8647-4539-A295-1F03F2040A1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matchingName="Vertical Title and Text">
  <p:cSld name="Vertical Title and Text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3;p51"/>
          <p:cNvSpPr>
            <a:spLocks noChangeArrowheads="1"/>
          </p:cNvSpPr>
          <p:nvPr/>
        </p:nvSpPr>
        <p:spPr bwMode="auto">
          <a:xfrm>
            <a:off x="772585" y="6307667"/>
            <a:ext cx="6648449" cy="34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sp>
        <p:nvSpPr>
          <p:cNvPr id="3" name="Google Shape;315;p51"/>
          <p:cNvSpPr>
            <a:spLocks noChangeArrowheads="1"/>
          </p:cNvSpPr>
          <p:nvPr/>
        </p:nvSpPr>
        <p:spPr bwMode="auto">
          <a:xfrm>
            <a:off x="10996084" y="0"/>
            <a:ext cx="1083733" cy="1051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65"/>
          </a:p>
        </p:txBody>
      </p:sp>
      <p:pic>
        <p:nvPicPr>
          <p:cNvPr id="4" name="Google Shape;316;p5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14;p51"/>
          <p:cNvSpPr txBox="1">
            <a:spLocks noGrp="1" noChangeArrowheads="1"/>
          </p:cNvSpPr>
          <p:nvPr>
            <p:ph type="sldNum" idx="10"/>
          </p:nvPr>
        </p:nvSpPr>
        <p:spPr>
          <a:xfrm>
            <a:off x="11408834" y="6333067"/>
            <a:ext cx="732367" cy="524933"/>
          </a:xfrm>
        </p:spPr>
        <p:txBody>
          <a:bodyPr/>
          <a:lstStyle>
            <a:lvl1pPr>
              <a:defRPr sz="1735">
                <a:latin typeface="Montserrat" charset="0"/>
                <a:cs typeface="Montserrat" charset="0"/>
                <a:sym typeface="Montserrat" charset="0"/>
              </a:defRPr>
            </a:lvl1pPr>
          </a:lstStyle>
          <a:p>
            <a:pPr>
              <a:defRPr/>
            </a:pPr>
            <a:fld id="{44D1968C-248C-45CC-BD3B-1D210A20000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950AD-90FB-426E-8619-E3265B5CFF2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C592-6B7A-40ED-AC42-87DA6EE52A0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524D-90B9-4708-B7BA-16F1752BAF6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F1A0-D7F9-4F1B-A1F7-BC488D3FA4A5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7599-1826-4AB7-B715-DFE58CC23BA8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3F20-DAFC-447C-B4D8-8E92CDD6E429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305E-9984-479A-8C3B-116DED6941EB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0509-F595-40A1-A3CD-6FE95CBA2ED0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1137-1FBA-4D63-AE20-0FA78B474252}" type="datetime1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8F4-86F4-4735-BBFE-34C2521E01B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3CDA-CA00-4267-AF27-1BA6886EE10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5C70-74E1-436A-9CE7-F5EAC447ED4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46BB-9095-4789-A378-E3C100F6295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9BF2-3BCF-4D06-B293-8B17748E198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6449-7244-47B8-91ED-C451249EF137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FADB-5B2F-40DE-A32A-BBEEEB1D18D9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9.xml"/><Relationship Id="rId35" Type="http://schemas.openxmlformats.org/officeDocument/2006/relationships/image" Target="../media/image28.png"/><Relationship Id="rId3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14867" y="592667"/>
            <a:ext cx="11362267" cy="764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/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14867" y="1536700"/>
            <a:ext cx="11362267" cy="4555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/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1296651" y="6216651"/>
            <a:ext cx="732367" cy="5249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ctr" anchorCtr="0" compatLnSpc="1"/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335">
                <a:solidFill>
                  <a:srgbClr val="595959"/>
                </a:solidFill>
              </a:defRPr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68;p16"/>
          <p:cNvPicPr preferRelativeResize="0"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Google Shape;69;p16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366185"/>
            <a:ext cx="10515600" cy="132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5" tIns="34275" rIns="68575" bIns="34275" numCol="1" anchor="ctr" anchorCtr="0" compatLnSpc="1"/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2" name="Google Shape;70;p16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838200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5" tIns="34275" rIns="68575" bIns="34275" numCol="1" anchor="t" anchorCtr="0" compatLnSpc="1"/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3" name="Google Shape;71;p16"/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0606618" y="6381751"/>
            <a:ext cx="747183" cy="366183"/>
          </a:xfrm>
          <a:prstGeom prst="rect">
            <a:avLst/>
          </a:prstGeom>
          <a:noFill/>
          <a:ln>
            <a:noFill/>
          </a:ln>
        </p:spPr>
        <p:txBody>
          <a:bodyPr vert="horz" wrap="square" lIns="68575" tIns="34275" rIns="68575" bIns="34275" numCol="1" anchor="t" anchorCtr="0" compatLnSpc="1"/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>
                <a:solidFill>
                  <a:srgbClr val="1E284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206D4448-42FC-4F3C-8332-83051E03E203}" type="slidenum">
              <a:rPr lang="en-US" altLang="en-US"/>
            </a:fld>
            <a:endParaRPr lang="en-US" altLang="en-US"/>
          </a:p>
        </p:txBody>
      </p:sp>
      <p:sp>
        <p:nvSpPr>
          <p:cNvPr id="2054" name="Google Shape;72;p16"/>
          <p:cNvSpPr txBox="1">
            <a:spLocks noChangeArrowheads="1"/>
          </p:cNvSpPr>
          <p:nvPr/>
        </p:nvSpPr>
        <p:spPr bwMode="auto">
          <a:xfrm>
            <a:off x="3589867" y="6314018"/>
            <a:ext cx="5012267" cy="306916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65" dirty="0">
                <a:solidFill>
                  <a:srgbClr val="1E2843"/>
                </a:solidFill>
                <a:latin typeface="Montserrat" charset="0"/>
                <a:cs typeface="Montserrat" charset="0"/>
                <a:sym typeface="Montserrat" charset="0"/>
              </a:rPr>
              <a:t>2018-2020</a:t>
            </a:r>
            <a:endParaRPr lang="en-US" altLang="en-US" sz="1065" dirty="0">
              <a:solidFill>
                <a:srgbClr val="1E2843"/>
              </a:solidFill>
              <a:latin typeface="Montserrat" charset="0"/>
              <a:cs typeface="Montserrat" charset="0"/>
              <a:sym typeface="Montserrat" charset="0"/>
            </a:endParaRPr>
          </a:p>
        </p:txBody>
      </p:sp>
      <p:sp>
        <p:nvSpPr>
          <p:cNvPr id="2055" name="Google Shape;73;p16"/>
          <p:cNvSpPr txBox="1">
            <a:spLocks noChangeArrowheads="1"/>
          </p:cNvSpPr>
          <p:nvPr/>
        </p:nvSpPr>
        <p:spPr bwMode="auto">
          <a:xfrm>
            <a:off x="831851" y="6318251"/>
            <a:ext cx="1022349" cy="364067"/>
          </a:xfrm>
          <a:prstGeom prst="rect">
            <a:avLst/>
          </a:prstGeom>
          <a:noFill/>
          <a:ln>
            <a:noFill/>
          </a:ln>
        </p:spPr>
        <p:txBody>
          <a:bodyPr lIns="121900" tIns="121900" rIns="121900" bIns="1219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defRPr/>
            </a:pPr>
            <a:r>
              <a:rPr lang="en-US" altLang="en-US" sz="1065" dirty="0">
                <a:solidFill>
                  <a:srgbClr val="1E284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02-Sept-2020</a:t>
            </a:r>
            <a:endParaRPr lang="en-US" altLang="en-US" sz="1065" dirty="0">
              <a:solidFill>
                <a:srgbClr val="1E2843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65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976A-0594-47CA-9D7B-82F59506E1D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51.xml"/><Relationship Id="rId3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5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51.xml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51.xml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51.xml"/><Relationship Id="rId3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51.xml"/><Relationship Id="rId3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51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2207374" y="2116196"/>
            <a:ext cx="5820931" cy="11028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endParaRPr lang="en-IN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n-US" alt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PHASE </a:t>
            </a:r>
            <a:r>
              <a:rPr lang="en-IN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IN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605" y="3517642"/>
            <a:ext cx="3578816" cy="269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60"/>
              </a:spcBef>
            </a:pP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Guided by:                                                                                          </a:t>
            </a:r>
            <a:endParaRPr lang="en-US" sz="18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VINCY LEENA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Assistant Professor,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Information Technology,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K. Ramakrishnan College of Engineering, (Autonomous),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Samayapuram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Trichy – 621 112.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574" y="605132"/>
            <a:ext cx="1055731" cy="978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5" y="609281"/>
            <a:ext cx="1512771" cy="97398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360644" y="605132"/>
            <a:ext cx="566766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0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 RAIL TRACK INSPECTION 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490" y="3517642"/>
            <a:ext cx="4338950" cy="186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60"/>
              </a:spcBef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Presented 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by:  </a:t>
            </a:r>
            <a:endParaRPr lang="en-US" sz="18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altLang="en-GB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GOUTHAMAN A (8115U23IT032)</a:t>
            </a:r>
            <a:endParaRPr lang="en-US" altLang="en-GB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altLang="en-GB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JAYAPRAKASH T (8115U23IT041)</a:t>
            </a:r>
            <a:endParaRPr lang="en-US" altLang="en-GB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altLang="en-GB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JOHN ADAN J R (8115U23IT046)</a:t>
            </a:r>
            <a:endParaRPr lang="en-US" altLang="en-GB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altLang="en-GB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60"/>
              </a:spcBef>
            </a:pP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11" y="149291"/>
            <a:ext cx="10058400" cy="7091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148" y="961053"/>
            <a:ext cx="5843910" cy="553305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5884"/>
            <a:ext cx="8596668" cy="871621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56835"/>
            <a:ext cx="9990666" cy="5449652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project is to </a:t>
            </a: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 railway track inspection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low-cost autonomous rail-mounted robot that replaces slow and error-prone manual patrolling.</a:t>
            </a:r>
          </a:p>
          <a:p>
            <a:pPr algn="just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aims to </a:t>
            </a: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detect rail-head cracks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 using computer vision and grade them as minor, major or critical based on their length across the rail head.</a:t>
            </a:r>
          </a:p>
          <a:p>
            <a:pPr algn="just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</a:t>
            </a: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track gauge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(1676 mm Broad Gauge) and reports any widening or tightening beyond the permitted tolerance.</a:t>
            </a:r>
          </a:p>
          <a:p>
            <a:pPr algn="just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</a:t>
            </a: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obstacles on the track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front camera and ultrasonic sensors, slows down early and performs an emergency stop to avoid collision.</a:t>
            </a:r>
          </a:p>
          <a:p>
            <a:pPr algn="just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defect is </a:t>
            </a:r>
            <a:r>
              <a:rPr lang="en-US" sz="32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geo-tagged with chainage, GPS and a photo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shown live on a control-room dashboard and exported as an inspection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5694"/>
            <a:ext cx="8596668" cy="90019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994609"/>
            <a:ext cx="10088989" cy="520954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Railways operates one of the largest rail networks in the world,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defects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rail cracks and gauge deviation are a major cause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derailments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inspection in India is still largely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keymen walk or push a trolley along the line and check a few kilometres per shift by eye.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cracks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missed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records are paper-based, and obstructions on the line are found only when a train arrives.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inspection robot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runs on the rails like a mini train,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and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cracks, gauge faults and obstacles, and reports them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control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618939"/>
            <a:ext cx="8596668" cy="2295335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6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IN" sz="6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8545" y="268171"/>
          <a:ext cx="11774910" cy="629305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60688"/>
                <a:gridCol w="1019331"/>
                <a:gridCol w="3327816"/>
                <a:gridCol w="2542105"/>
                <a:gridCol w="1962485"/>
                <a:gridCol w="1962485"/>
              </a:tblGrid>
              <a:tr h="6273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197864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Railway fastener inspection by real-time machine vision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Ç. Aytekin, Y. Rezaeitabar, S. Dogru, I. Ulusoy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Image processing, pixel &amp; histogram features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Real-time detection of missing fasteners from on-board cameras.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143813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convolutional neural networks for detection of rail surface defects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S. Faghih-Roohi, S. Hajizadeh, A. Núñez, R. Babuska, B. De Schutter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CNN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Classified rail-surface defect images taken from track video.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224890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multitask learning for railway track inspection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X. Gibert, V. M. Patel, R. Chellappa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Multitask deep CNN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Joint detection of fastener and sleeper defects in track images.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288759"/>
          <a:ext cx="11470104" cy="617510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79423"/>
                <a:gridCol w="959370"/>
                <a:gridCol w="3282846"/>
                <a:gridCol w="2525097"/>
                <a:gridCol w="1911684"/>
                <a:gridCol w="1911684"/>
              </a:tblGrid>
              <a:tr h="6174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1415388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hierarchical extractor-based visual rail surface inspection system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J. Gan, Q. Li, J. Wang, H. Yu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Coarse + fine extractor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Learned rail background to isolate surface defects with low false alarms.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2213335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new rail inspection method based on deep learning using laser cameras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Y. Santur, M. Karakose, E. Akin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3D laser camera + deep learning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 fracture, scouring and wear on the rail surface.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1769624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Object detection at level crossing using deep learning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M. A. B. Fayyaz, C. Johnson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learning, CCTV + radar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 obstacles at level crossings using existing CCTV.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288760"/>
          <a:ext cx="11614482" cy="62564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04472"/>
                <a:gridCol w="974361"/>
                <a:gridCol w="3537678"/>
                <a:gridCol w="2426477"/>
                <a:gridCol w="1935747"/>
                <a:gridCol w="1935747"/>
              </a:tblGrid>
              <a:tr h="6409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1745485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Two deep learning networks for rail surface defect inspection of limited samples with line-level label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D. Zhang, K. Song, Q. Wang, Y. He, X. Wen, Y. Yan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segmentation networks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Reduced the labelled data needed for defect detection.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2124464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defect detection method for rail surface and fasteners based on deep convolutional neural network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D. Zheng, L. Li, S. Zheng et al.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YOLOv5, Mask R-CNN, ResNet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Located rails/fasteners, segmented surface defects on a high-speed line.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1745485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review of vision-based on-board obstacle detection and distance estimation in railways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D. Ristić-Durrant, M. Franke, K. Michels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Survey: CV &amp; AI methods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Identified need for on-board obstacle detection with distance estimation.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288760"/>
          <a:ext cx="11614482" cy="23864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35747"/>
                <a:gridCol w="1935747"/>
                <a:gridCol w="1935747"/>
                <a:gridCol w="1935747"/>
                <a:gridCol w="1935747"/>
                <a:gridCol w="1935747"/>
              </a:tblGrid>
              <a:tr h="6409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1745485">
                <a:tc>
                  <a:txBody>
                    <a:bodyPr/>
                    <a:lstStyle/>
                    <a:p>
                      <a:r>
                        <a:rPr lang="en-US" dirty="0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Detection of safe passage for trains at rail level crossings using deep learning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T. Pamuła, W. Pamuła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learning video analysis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Checked if the train's path is clear with 0.98 recall.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38140"/>
            <a:ext cx="8596668" cy="7322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194318"/>
            <a:ext cx="10442950" cy="521216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inspection is mostly done by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manual patrolling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keymen walk the section or use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push trolley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check the rails visually with a hand gauge.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covers only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 few kilometres per shift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depends on the attention and experience of the inspector, so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cracks are often missed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Ultrasonic flaw-detection trolleys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 recording cars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expensive, few in number and run only periodically.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low-cost prototypes use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simple IR / ultrasonic threshold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give no crack size, no gauge value and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no photo evidence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Obstacles on the line are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not detected in advance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defect records are mostly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paper-based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exact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55037"/>
            <a:ext cx="8596668" cy="7433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184988"/>
            <a:ext cx="10610098" cy="5221499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rail-mounted robot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drives along the track by itself with closed-loop motor control.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down-looking camera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OpenCV detects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rail-head cracks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rejects rust / grease stains and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measures track gauge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every frame.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 camera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obstacles – the robot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slows down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15 m and makes an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emergency stop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2 m, then resumes when the track is clear.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defect is tagged with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chainage (encoder), GPS, severity and photo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critical defects raise an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are paint-marked.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live web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cameras, sensor values, defect map and event log, with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manual override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CSV / PDF report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>
            <a:spLocks noChangeArrowheads="1"/>
          </p:cNvSpPr>
          <p:nvPr/>
        </p:nvSpPr>
        <p:spPr bwMode="auto">
          <a:xfrm flipV="1">
            <a:off x="6796199" y="-1172549"/>
            <a:ext cx="56498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3464767" y="14773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317102" y="988906"/>
            <a:ext cx="1152677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013237" y="41056"/>
            <a:ext cx="7281678" cy="36576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 dirty="0"/>
          </a:p>
        </p:txBody>
      </p:sp>
      <p:pic>
        <p:nvPicPr>
          <p:cNvPr id="21" name="Picture 20" descr="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572" y="1416138"/>
            <a:ext cx="7156841" cy="40257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95738"/>
            <a:ext cx="8596668" cy="103466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Vision Module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 Module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Control Module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&amp; Sensor Firmware Module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Logging &amp; Alert Module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Report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76768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Track Vision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9622"/>
            <a:ext cx="8819592" cy="478791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Track Vision Module processes frames from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down-looking track camera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mounted under the robot with an LED ring light.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locates both rails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every frame using column-brightness profiles and computes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 gauge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inner faces of the rails.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black-hat filter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thin dark lines across the rail head, and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shape test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separates real cracks from round rust or grease stains.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Cracks are graded as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MINOR, MAJOR or CRITICAL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how far they run across the rail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7676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Obstacle Detection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9622"/>
            <a:ext cx="8819592" cy="478791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Obstacle Detection Module uses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 camera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objects such as boulders, logs, animals or workers inside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 corridor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to the object is estimated from where it touches the ground using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camera geometry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giving early warning up to about 25 m.</a:t>
            </a:r>
          </a:p>
          <a:p>
            <a:pPr algn="just">
              <a:lnSpc>
                <a:spcPct val="150000"/>
              </a:lnSpc>
            </a:pP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an accurate distance at short range, and both readings are combined (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 reliable stop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767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Robot Control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9622"/>
            <a:ext cx="8819592" cy="478791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Control Module runs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Idle, Inspecting, Slowing, Obstacle Stop, Manual and Completed.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sets the robot speed –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cruise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inspection,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an obstacle is seen far away and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within 2 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obstacle is removed and the track stays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clear for 2 seconds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robot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resumes automatically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operator can stop the robot or drive it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safety interlock stays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767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Motor &amp; Sensor Firmware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9622"/>
            <a:ext cx="8819592" cy="478791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drives the two DC geared motors through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BTS7960 driver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PI speed 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encoder feedback.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reads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wheel encoder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(distance),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IR rail sensors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MPU6050 IMU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(vibration and tilt) and battery voltage.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emergency stop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obstacles,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E-stop 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1-second watchdog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 robot stops even if the Raspberry Pi fails.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exchanged with the Raspberry Pi as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JSON over USB serial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767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Defect Logging &amp; Alert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9622"/>
            <a:ext cx="8819592" cy="478791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Defect Logging Module converts per-frame detections into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unique defects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crack must be seen in at least 2 frames and nearby detections are merged.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defect is tagged with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chainage (km)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GPS coordinates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rail side, severity and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photo close-up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cracks and obstructions trigger an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 to the control room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fire the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paint marker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76768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Dashboard &amp; Report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9622"/>
            <a:ext cx="8819592" cy="478791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Flask web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streams both cameras live and shows speed, chainage, gauge, obstacle range, vibration and battery.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 defect map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gauge 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event log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defect register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photos.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operator can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start, stop or manually drive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robot from any phone or laptop over Wi-Fi.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run an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inspection report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generated in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CSV, JSON and PDF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90599"/>
            <a:ext cx="8915844" cy="3079296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6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5666" y="128347"/>
            <a:ext cx="99492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CONTROL-ROOM DASHBOARD</a:t>
            </a:r>
          </a:p>
        </p:txBody>
      </p:sp>
      <p:pic>
        <p:nvPicPr>
          <p:cNvPr id="8" name="Picture 7" descr="04_web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116" y="1315203"/>
            <a:ext cx="5155768" cy="49087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5666" y="208442"/>
            <a:ext cx="1046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CRACK DETECTION OUTPUT</a:t>
            </a:r>
          </a:p>
        </p:txBody>
      </p:sp>
      <p:pic>
        <p:nvPicPr>
          <p:cNvPr id="8" name="Picture 7" descr="02_critical_cr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723" y="1374008"/>
            <a:ext cx="6900332" cy="38814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5666" y="208442"/>
            <a:ext cx="1046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GAUGE MEASUREMENT OUTPUT</a:t>
            </a:r>
          </a:p>
        </p:txBody>
      </p:sp>
      <p:pic>
        <p:nvPicPr>
          <p:cNvPr id="7" name="Picture 6" descr="g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586" y="1504207"/>
            <a:ext cx="6843706" cy="38495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5666" y="208442"/>
            <a:ext cx="1046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 OUTPUT</a:t>
            </a:r>
          </a:p>
        </p:txBody>
      </p:sp>
      <p:pic>
        <p:nvPicPr>
          <p:cNvPr id="7" name="Picture 6" descr="03_obstacle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586" y="1504207"/>
            <a:ext cx="6843706" cy="38495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5666" y="208442"/>
            <a:ext cx="1046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INSPECTION REPORT &amp; VALIDATION</a:t>
            </a:r>
          </a:p>
        </p:txBody>
      </p:sp>
      <p:pic>
        <p:nvPicPr>
          <p:cNvPr id="8" name="Picture 7" descr="05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723" y="1488281"/>
            <a:ext cx="6900332" cy="38814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5666" y="208442"/>
            <a:ext cx="10462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IN" sz="7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demo_inspec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41251" y="1264648"/>
            <a:ext cx="7695472" cy="43287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61328"/>
            <a:ext cx="8596668" cy="82349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00381"/>
            <a:ext cx="9990666" cy="559629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that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low-cost autonomous robot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inspect railway track in real time and reduce dependence on manual patrolling.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validation run on an 80 m section, the system detected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7 out of 7 cracks with zero false alarms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found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2 out of 2 gauge faults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less than 1 mm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measurement error, and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stopped safely for 2 out of 2 obstacles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defect is recorded with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exact location and photo evidence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reported live to the control room.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makes track inspection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faster, safer and more reliable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fraction of the cost of track recording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43734"/>
            <a:ext cx="8596668" cy="91974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52897"/>
            <a:ext cx="10167647" cy="555359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(YOLOv8)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on rail defect datasets can improve detection of cracks, missing clips, bolts and broken sleepers.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ultrasonic or eddy-current probes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allow detection of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internal rail flaws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not visible on the surface.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laser line profiler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measure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rail wear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give a complete 3D track geometry profile.</a:t>
            </a:r>
          </a:p>
          <a:p>
            <a:pPr algn="just">
              <a:lnSpc>
                <a:spcPct val="170000"/>
              </a:lnSpc>
            </a:pP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Solar charging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LoRa / 4G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long-range link and integration with railway maintenance software will enable long unattended inspection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6884"/>
            <a:ext cx="8596668" cy="96252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1427747"/>
            <a:ext cx="8840865" cy="543025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[1] Ç. Aytekin, Y. Rezaeitabar, S. Dogru, and I. Ulusoy, “Railway fastener inspection by real-time machine vision,” IEEE Trans. Syst., Man, Cybern.: Syst., vol. 45, no. 7, pp. 1101–1107, 2015.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[2] S. Faghih-Roohi, S. Hajizadeh, A. Núñez, R. Babuska, and B. De Schutter, “Deep convolutional neural networks for detection of rail surface defects,” in Proc. IJCNN, Vancouver, Canada, 2016.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[3] X. Gibert, V. M. Patel, and R. Chellappa, “Deep multitask learning for railway track inspection,” IEEE Trans. Intell. Transp. Syst., vol. 18, no. 1, pp. 153–164, 2017.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[4] J. Gan, Q. Li, J. Wang, and H. Yu, “A hierarchical extractor-based visual rail surface inspection system,” IEEE Sensors J., vol. 17, no. 23, pp. 7935–7944, 2017.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[5] Y. Santur, M. Karakose, and E. Akin, “A new rail inspection method based on deep learning using laser cameras,” in Proc. Int. Artificial Intelligence and Data Processing Symp. (IDAP), 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6884"/>
            <a:ext cx="8596668" cy="96252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1427747"/>
            <a:ext cx="10795302" cy="49787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M. A. B. Fayyaz and C. Johnson, “Object detection at level crossing using deep learning,” Micromachines, vol. 11, no. 12, p. 1055, 2020.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D. Zhang, K. Song, Q. Wang, Y. He, X. Wen, and Y. Yan, “Two deep learning networks for rail surface defect inspection of limited samples with line-level label,” IEEE Trans. Ind. Informat., vol. 17, pp. 6731–6741,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D. Zheng, L. Li, S. Zheng, X. Chai, S. Zhao, Q. Tong, J. Wang, and L. Guo, “A defect detection method for rail surface and fasteners based on deep convolutional neural network,” 2021, doi: 10.1155/2021/2565500.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D. Ristić-Durrant, M. Franke, and K. Michels, “A review of vision-based on-board obstacle detection and distance estimation in railways,” Sensors, vol. 21, no. 10, p. 3452,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T. Pamuła and W. Pamuła, “Detection of safe passage for trains at rail level crossings using deep learning,” Sensors, vol. 21, no. 18, p. 6281,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6884"/>
            <a:ext cx="8596668" cy="96252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1427747"/>
            <a:ext cx="10795302" cy="49787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[11] Ministry of Railways, Government of India, Indian Railways Permanent Way Manual (IRPWM), 2020.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[12] R. C. Gonzalez and R. E. Woods, Digital Image Processing, 4th ed. New York, NY, USA: Pearson, 2018.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[13] OpenCV, “Morphological transformations,” OpenCV documentation. [Online]. Available: https://docs.opencv.org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[14] Espressif Systems, ESP32 Technical Reference Manual. [Online]. Available: https://www.espressif.com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[15] Raspberry Pi Ltd., Raspberry Pi 5 documentation. [Online]. Available: https://www.raspberrypi.com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BC4DD-1846-45FB-BFCB-B8357CA78A34}" type="slidenum">
              <a:rPr lang="en-IN" smtClean="0"/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250303" y="2369976"/>
            <a:ext cx="81249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YOU……….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cademic presentation template_KCT 202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18MDS012</Template>
  <TotalTime>0</TotalTime>
  <Words>14360</Words>
  <Application>WPS Presentation</Application>
  <PresentationFormat>Widescreen</PresentationFormat>
  <Paragraphs>401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SimSun</vt:lpstr>
      <vt:lpstr>Wingdings</vt:lpstr>
      <vt:lpstr>Arial</vt:lpstr>
      <vt:lpstr>Montserrat</vt:lpstr>
      <vt:lpstr>Segoe Print</vt:lpstr>
      <vt:lpstr>Calibri</vt:lpstr>
      <vt:lpstr>Montserrat</vt:lpstr>
      <vt:lpstr>Calibri</vt:lpstr>
      <vt:lpstr>Wingdings 3</vt:lpstr>
      <vt:lpstr>Times New Roman</vt:lpstr>
      <vt:lpstr>Aptos</vt:lpstr>
      <vt:lpstr>Segoe UI</vt:lpstr>
      <vt:lpstr>Microsoft YaHei</vt:lpstr>
      <vt:lpstr>Arial Unicode MS</vt:lpstr>
      <vt:lpstr>Trebuchet MS</vt:lpstr>
      <vt:lpstr>Simple Light</vt:lpstr>
      <vt:lpstr>Academic presentation template_KCT 2020</vt:lpstr>
      <vt:lpstr>Facet</vt:lpstr>
      <vt:lpstr>PowerPoint 演示文稿</vt:lpstr>
      <vt:lpstr>Overview</vt:lpstr>
      <vt:lpstr>Objective</vt:lpstr>
      <vt:lpstr>Introduction</vt:lpstr>
      <vt:lpstr>Literature Survey</vt:lpstr>
      <vt:lpstr>PowerPoint 演示文稿</vt:lpstr>
      <vt:lpstr>PowerPoint 演示文稿</vt:lpstr>
      <vt:lpstr>PowerPoint 演示文稿</vt:lpstr>
      <vt:lpstr>PowerPoint 演示文稿</vt:lpstr>
      <vt:lpstr>Existing System</vt:lpstr>
      <vt:lpstr>Proposed System</vt:lpstr>
      <vt:lpstr>System Architecture</vt:lpstr>
      <vt:lpstr>Modules</vt:lpstr>
      <vt:lpstr>Module 1 – Audio Acquisition Module</vt:lpstr>
      <vt:lpstr>Module 2 – Preprocessing and Noise Reduction Module</vt:lpstr>
      <vt:lpstr>Module 3 – Feature Extraction Module </vt:lpstr>
      <vt:lpstr>Module 4 – Sound Classification Module</vt:lpstr>
      <vt:lpstr>Module 5 – Directional Estimation Module </vt:lpstr>
      <vt:lpstr>Module 6 – Event Decision &amp; Alert Module</vt:lpstr>
      <vt:lpstr>Output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Future Enhancement</vt:lpstr>
      <vt:lpstr>References</vt:lpstr>
      <vt:lpstr>References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Bernish L H</cp:lastModifiedBy>
  <cp:revision>4</cp:revision>
  <dcterms:created xsi:type="dcterms:W3CDTF">2024-02-19T13:15:00Z</dcterms:created>
  <dcterms:modified xsi:type="dcterms:W3CDTF">2026-10-13T10:48:12Z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3C14296077B847FC8D39F0DC52A0A115_13</vt:lpwstr>
  </property>
  <property fmtid="{D5CDD505-2E9C-101B-9397-08002B2CF9AE}" pid="3" name="KSOProductBuildVer">
    <vt:lpwstr>2057-12.2.0.23206</vt:lpwstr>
  </property>
</Properties>
</file>