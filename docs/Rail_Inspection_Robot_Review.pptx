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3CB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972800" cy="457200"/>
          </a:xfrm>
          <a:prstGeom prst="rect">
            <a:avLst/>
          </a:prstGeom>
          <a:noFill/>
        </p:spPr>
        <p:txBody>
          <a:bodyPr wrap="square">
            <a:spAutoFit/>
          </a:bodyPr>
          <a:lstStyle/>
          <a:p>
            <a:pPr>
              <a:defRPr sz="1600" b="1">
                <a:solidFill>
                  <a:srgbClr val="3CBEE6"/>
                </a:solidFill>
              </a:defRPr>
            </a:pPr>
            <a:r>
              <a:t>FINAL YEAR PROJECT REVIEW</a:t>
            </a:r>
          </a:p>
        </p:txBody>
      </p:sp>
      <p:sp>
        <p:nvSpPr>
          <p:cNvPr id="4" name="TextBox 3"/>
          <p:cNvSpPr txBox="1"/>
          <p:nvPr/>
        </p:nvSpPr>
        <p:spPr>
          <a:xfrm>
            <a:off x="731520" y="1234440"/>
            <a:ext cx="10972800" cy="822960"/>
          </a:xfrm>
          <a:prstGeom prst="rect">
            <a:avLst/>
          </a:prstGeom>
          <a:noFill/>
        </p:spPr>
        <p:txBody>
          <a:bodyPr wrap="square">
            <a:spAutoFit/>
          </a:bodyPr>
          <a:lstStyle/>
          <a:p>
            <a:pPr>
              <a:defRPr sz="4400" b="1">
                <a:solidFill>
                  <a:srgbClr val="E6ECF3"/>
                </a:solidFill>
              </a:defRPr>
            </a:pPr>
            <a:r>
              <a:t>AUTONOMOUS RAIL TRACK</a:t>
            </a:r>
          </a:p>
        </p:txBody>
      </p:sp>
      <p:sp>
        <p:nvSpPr>
          <p:cNvPr id="5" name="TextBox 4"/>
          <p:cNvSpPr txBox="1"/>
          <p:nvPr/>
        </p:nvSpPr>
        <p:spPr>
          <a:xfrm>
            <a:off x="731520" y="1965960"/>
            <a:ext cx="10972800" cy="822960"/>
          </a:xfrm>
          <a:prstGeom prst="rect">
            <a:avLst/>
          </a:prstGeom>
          <a:noFill/>
        </p:spPr>
        <p:txBody>
          <a:bodyPr wrap="square">
            <a:spAutoFit/>
          </a:bodyPr>
          <a:lstStyle/>
          <a:p>
            <a:pPr>
              <a:defRPr sz="4400" b="1">
                <a:solidFill>
                  <a:srgbClr val="E6ECF3"/>
                </a:solidFill>
              </a:defRPr>
            </a:pPr>
            <a:r>
              <a:t>INSPECTION ROBOT</a:t>
            </a:r>
          </a:p>
        </p:txBody>
      </p:sp>
      <p:sp>
        <p:nvSpPr>
          <p:cNvPr id="6" name="TextBox 5"/>
          <p:cNvSpPr txBox="1"/>
          <p:nvPr/>
        </p:nvSpPr>
        <p:spPr>
          <a:xfrm>
            <a:off x="731520" y="2788920"/>
            <a:ext cx="10972800" cy="457200"/>
          </a:xfrm>
          <a:prstGeom prst="rect">
            <a:avLst/>
          </a:prstGeom>
          <a:noFill/>
        </p:spPr>
        <p:txBody>
          <a:bodyPr wrap="square">
            <a:spAutoFit/>
          </a:bodyPr>
          <a:lstStyle/>
          <a:p>
            <a:pPr>
              <a:defRPr sz="1800" b="0">
                <a:solidFill>
                  <a:srgbClr val="8C98A8"/>
                </a:solidFill>
              </a:defRPr>
            </a:pPr>
            <a:r>
              <a:t>Crack detection  |  Gauge measurement  |  Obstacle detection  |  Live dashboard</a:t>
            </a:r>
          </a:p>
        </p:txBody>
      </p:sp>
      <p:sp>
        <p:nvSpPr>
          <p:cNvPr id="7" name="Rectangle 6"/>
          <p:cNvSpPr/>
          <p:nvPr/>
        </p:nvSpPr>
        <p:spPr>
          <a:xfrm>
            <a:off x="731520" y="3566160"/>
            <a:ext cx="10698480" cy="27432"/>
          </a:xfrm>
          <a:prstGeom prst="rect">
            <a:avLst/>
          </a:prstGeom>
          <a:solidFill>
            <a:srgbClr val="2D3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886200"/>
            <a:ext cx="3657600" cy="457200"/>
          </a:xfrm>
          <a:prstGeom prst="rect">
            <a:avLst/>
          </a:prstGeom>
          <a:noFill/>
        </p:spPr>
        <p:txBody>
          <a:bodyPr wrap="square">
            <a:spAutoFit/>
          </a:bodyPr>
          <a:lstStyle/>
          <a:p>
            <a:pPr>
              <a:defRPr sz="1800" b="1">
                <a:solidFill>
                  <a:srgbClr val="3CBEE6"/>
                </a:solidFill>
              </a:defRPr>
            </a:pPr>
            <a:r>
              <a:t>Guided by :</a:t>
            </a:r>
          </a:p>
        </p:txBody>
      </p:sp>
      <p:sp>
        <p:nvSpPr>
          <p:cNvPr id="9" name="TextBox 8"/>
          <p:cNvSpPr txBox="1"/>
          <p:nvPr/>
        </p:nvSpPr>
        <p:spPr>
          <a:xfrm>
            <a:off x="731520" y="4297680"/>
            <a:ext cx="4572000" cy="457200"/>
          </a:xfrm>
          <a:prstGeom prst="rect">
            <a:avLst/>
          </a:prstGeom>
          <a:noFill/>
        </p:spPr>
        <p:txBody>
          <a:bodyPr wrap="square">
            <a:spAutoFit/>
          </a:bodyPr>
          <a:lstStyle/>
          <a:p>
            <a:pPr>
              <a:defRPr sz="2000" b="1">
                <a:solidFill>
                  <a:srgbClr val="E6ECF3"/>
                </a:solidFill>
              </a:defRPr>
            </a:pPr>
            <a:r>
              <a:t>Vincy Leena</a:t>
            </a:r>
          </a:p>
        </p:txBody>
      </p:sp>
      <p:sp>
        <p:nvSpPr>
          <p:cNvPr id="10" name="TextBox 9"/>
          <p:cNvSpPr txBox="1"/>
          <p:nvPr/>
        </p:nvSpPr>
        <p:spPr>
          <a:xfrm>
            <a:off x="6766560" y="3886200"/>
            <a:ext cx="4572000" cy="457200"/>
          </a:xfrm>
          <a:prstGeom prst="rect">
            <a:avLst/>
          </a:prstGeom>
          <a:noFill/>
        </p:spPr>
        <p:txBody>
          <a:bodyPr wrap="square">
            <a:spAutoFit/>
          </a:bodyPr>
          <a:lstStyle/>
          <a:p>
            <a:pPr>
              <a:defRPr sz="1800" b="1">
                <a:solidFill>
                  <a:srgbClr val="3CBEE6"/>
                </a:solidFill>
              </a:defRPr>
            </a:pPr>
            <a:r>
              <a:t>Presented by :</a:t>
            </a:r>
          </a:p>
        </p:txBody>
      </p:sp>
      <p:sp>
        <p:nvSpPr>
          <p:cNvPr id="11" name="TextBox 10"/>
          <p:cNvSpPr txBox="1"/>
          <p:nvPr/>
        </p:nvSpPr>
        <p:spPr>
          <a:xfrm>
            <a:off x="6766560" y="4297680"/>
            <a:ext cx="5120640" cy="457200"/>
          </a:xfrm>
          <a:prstGeom prst="rect">
            <a:avLst/>
          </a:prstGeom>
          <a:noFill/>
        </p:spPr>
        <p:txBody>
          <a:bodyPr wrap="square">
            <a:spAutoFit/>
          </a:bodyPr>
          <a:lstStyle/>
          <a:p>
            <a:pPr>
              <a:defRPr sz="1800" b="1">
                <a:solidFill>
                  <a:srgbClr val="E6ECF3"/>
                </a:solidFill>
              </a:defRPr>
            </a:pPr>
            <a:r>
              <a:t>Gouthaman A  (8115U23IT032)</a:t>
            </a:r>
          </a:p>
        </p:txBody>
      </p:sp>
      <p:sp>
        <p:nvSpPr>
          <p:cNvPr id="12" name="TextBox 11"/>
          <p:cNvSpPr txBox="1"/>
          <p:nvPr/>
        </p:nvSpPr>
        <p:spPr>
          <a:xfrm>
            <a:off x="6766560" y="4709160"/>
            <a:ext cx="5120640" cy="457200"/>
          </a:xfrm>
          <a:prstGeom prst="rect">
            <a:avLst/>
          </a:prstGeom>
          <a:noFill/>
        </p:spPr>
        <p:txBody>
          <a:bodyPr wrap="square">
            <a:spAutoFit/>
          </a:bodyPr>
          <a:lstStyle/>
          <a:p>
            <a:pPr>
              <a:defRPr sz="1800" b="1">
                <a:solidFill>
                  <a:srgbClr val="E6ECF3"/>
                </a:solidFill>
              </a:defRPr>
            </a:pPr>
            <a:r>
              <a:t>Jayaprakash T  (8115U23IT041)</a:t>
            </a:r>
          </a:p>
        </p:txBody>
      </p:sp>
      <p:sp>
        <p:nvSpPr>
          <p:cNvPr id="13" name="TextBox 12"/>
          <p:cNvSpPr txBox="1"/>
          <p:nvPr/>
        </p:nvSpPr>
        <p:spPr>
          <a:xfrm>
            <a:off x="6766560" y="5120640"/>
            <a:ext cx="5120640" cy="457200"/>
          </a:xfrm>
          <a:prstGeom prst="rect">
            <a:avLst/>
          </a:prstGeom>
          <a:noFill/>
        </p:spPr>
        <p:txBody>
          <a:bodyPr wrap="square">
            <a:spAutoFit/>
          </a:bodyPr>
          <a:lstStyle/>
          <a:p>
            <a:pPr>
              <a:defRPr sz="1800" b="1">
                <a:solidFill>
                  <a:srgbClr val="E6ECF3"/>
                </a:solidFill>
              </a:defRPr>
            </a:pPr>
            <a:r>
              <a:t>John Adan J R  (8115U23IT046)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defRPr sz="1400" b="1">
                <a:solidFill>
                  <a:srgbClr val="3CBEE6"/>
                </a:solidFill>
              </a:defRPr>
            </a:pPr>
            <a:r>
              <a:t>OVERVIEW</a:t>
            </a:r>
          </a:p>
        </p:txBody>
      </p:sp>
      <p:sp>
        <p:nvSpPr>
          <p:cNvPr id="3" name="TextBox 2"/>
          <p:cNvSpPr txBox="1"/>
          <p:nvPr/>
        </p:nvSpPr>
        <p:spPr>
          <a:xfrm>
            <a:off x="548640" y="594360"/>
            <a:ext cx="10972800" cy="731520"/>
          </a:xfrm>
          <a:prstGeom prst="rect">
            <a:avLst/>
          </a:prstGeom>
          <a:noFill/>
        </p:spPr>
        <p:txBody>
          <a:bodyPr wrap="square">
            <a:spAutoFit/>
          </a:bodyPr>
          <a:lstStyle/>
          <a:p>
            <a:pPr>
              <a:defRPr sz="3200" b="1">
                <a:solidFill>
                  <a:srgbClr val="E6ECF3"/>
                </a:solidFill>
              </a:defRPr>
            </a:pPr>
            <a:r>
              <a:t>Abstract</a:t>
            </a:r>
          </a:p>
        </p:txBody>
      </p:sp>
      <p:sp>
        <p:nvSpPr>
          <p:cNvPr id="4" name="TextBox 3"/>
          <p:cNvSpPr txBox="1"/>
          <p:nvPr/>
        </p:nvSpPr>
        <p:spPr>
          <a:xfrm>
            <a:off x="731520" y="1554480"/>
            <a:ext cx="10789920" cy="5029200"/>
          </a:xfrm>
          <a:prstGeom prst="rect">
            <a:avLst/>
          </a:prstGeom>
          <a:noFill/>
        </p:spPr>
        <p:txBody>
          <a:bodyPr wrap="square">
            <a:spAutoFit/>
          </a:bodyPr>
          <a:lstStyle/>
          <a:p>
            <a:pPr>
              <a:defRPr sz="1800" b="0">
                <a:solidFill>
                  <a:srgbClr val="E6ECF3"/>
                </a:solidFill>
              </a:defRPr>
            </a:pPr>
            <a:r>
              <a:t>Track defects such as rail cracks, gauge widening and obstructions are a major cause of derailments. In India, track inspection is still mostly manual: trackmen walk or push a trolley and check the rails by eye, which is slow and error-prone.</a:t>
            </a:r>
          </a:p>
          <a:p>
            <a:pPr>
              <a:defRPr sz="1800" b="0">
                <a:solidFill>
                  <a:srgbClr val="E6ECF3"/>
                </a:solidFill>
              </a:defRPr>
            </a:pPr>
          </a:p>
          <a:p>
            <a:pPr>
              <a:defRPr sz="1800" b="0">
                <a:solidFill>
                  <a:srgbClr val="E6ECF3"/>
                </a:solidFill>
              </a:defRPr>
            </a:pPr>
            <a:r>
              <a:t>This project presents a low-cost autonomous rail-mounted robot. It drives along the track by itself; a down-looking camera with OpenCV detects rail-head cracks and measures track gauge, while a front camera and ultrasonic sensors detect obstacles and stop the robot safely. Every defect is tagged with chainage (km), GPS, severity and a photo, shown live on a web dashboard, and exported as a report.</a:t>
            </a:r>
          </a:p>
          <a:p>
            <a:pPr>
              <a:defRPr sz="1800" b="0">
                <a:solidFill>
                  <a:srgbClr val="E6ECF3"/>
                </a:solidFill>
              </a:defRPr>
            </a:pPr>
          </a:p>
          <a:p>
            <a:pPr>
              <a:defRPr sz="1800" b="0">
                <a:solidFill>
                  <a:srgbClr val="E6ECF3"/>
                </a:solidFill>
              </a:defRPr>
            </a:pPr>
            <a:r>
              <a:t>On an 80 m validation run the system detected 7/7 cracks with 0 false alarms, 2/2 gauge faults (&lt; 1 mm error) and stopped safely for 2/2 obstacles.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defRPr sz="1400" b="1">
                <a:solidFill>
                  <a:srgbClr val="3CBEE6"/>
                </a:solidFill>
              </a:defRPr>
            </a:pPr>
            <a:r>
              <a:t>PROBLEM STATEMENT</a:t>
            </a:r>
          </a:p>
        </p:txBody>
      </p:sp>
      <p:sp>
        <p:nvSpPr>
          <p:cNvPr id="3" name="TextBox 2"/>
          <p:cNvSpPr txBox="1"/>
          <p:nvPr/>
        </p:nvSpPr>
        <p:spPr>
          <a:xfrm>
            <a:off x="548640" y="594360"/>
            <a:ext cx="10972800" cy="731520"/>
          </a:xfrm>
          <a:prstGeom prst="rect">
            <a:avLst/>
          </a:prstGeom>
          <a:noFill/>
        </p:spPr>
        <p:txBody>
          <a:bodyPr wrap="square">
            <a:spAutoFit/>
          </a:bodyPr>
          <a:lstStyle/>
          <a:p>
            <a:pPr>
              <a:defRPr sz="3200" b="1">
                <a:solidFill>
                  <a:srgbClr val="E6ECF3"/>
                </a:solidFill>
              </a:defRPr>
            </a:pPr>
            <a:r>
              <a:t>Problem: manual track inspection</a:t>
            </a:r>
          </a:p>
        </p:txBody>
      </p:sp>
      <p:sp>
        <p:nvSpPr>
          <p:cNvPr id="4" name="TextBox 3"/>
          <p:cNvSpPr txBox="1"/>
          <p:nvPr/>
        </p:nvSpPr>
        <p:spPr>
          <a:xfrm>
            <a:off x="548640" y="1554480"/>
            <a:ext cx="10972800" cy="4572000"/>
          </a:xfrm>
          <a:prstGeom prst="rect">
            <a:avLst/>
          </a:prstGeom>
          <a:noFill/>
        </p:spPr>
        <p:txBody>
          <a:bodyPr wrap="square">
            <a:spAutoFit/>
          </a:bodyPr>
          <a:lstStyle/>
          <a:p>
            <a:pPr>
              <a:spcAft>
                <a:spcPts val="1000"/>
              </a:spcAft>
            </a:pPr>
            <a:r>
              <a:rPr sz="1800" b="1">
                <a:solidFill>
                  <a:srgbClr val="E6ECF3"/>
                </a:solidFill>
              </a:rPr>
              <a:t>▸ Trackmen walk / push a trolley</a:t>
            </a:r>
            <a:r>
              <a:rPr sz="1500">
                <a:solidFill>
                  <a:srgbClr val="8C98A8"/>
                </a:solidFill>
              </a:rPr>
              <a:t>  —  only a few km per shift, depends on human attention</a:t>
            </a:r>
          </a:p>
          <a:p>
            <a:pPr>
              <a:spcAft>
                <a:spcPts val="1000"/>
              </a:spcAft>
            </a:pPr>
            <a:r>
              <a:rPr sz="1800" b="1">
                <a:solidFill>
                  <a:srgbClr val="E6ECF3"/>
                </a:solidFill>
              </a:rPr>
              <a:t>▸ Small rail cracks are easily missed</a:t>
            </a:r>
            <a:r>
              <a:rPr sz="1500">
                <a:solidFill>
                  <a:srgbClr val="8C98A8"/>
                </a:solidFill>
              </a:rPr>
              <a:t>  —  cracks grow under load and lead to rail fracture</a:t>
            </a:r>
          </a:p>
          <a:p>
            <a:pPr>
              <a:spcAft>
                <a:spcPts val="1000"/>
              </a:spcAft>
            </a:pPr>
            <a:r>
              <a:rPr sz="1800" b="1">
                <a:solidFill>
                  <a:srgbClr val="E6ECF3"/>
                </a:solidFill>
              </a:rPr>
              <a:t>▸ Gauge widening is hard to judge by eye</a:t>
            </a:r>
            <a:r>
              <a:rPr sz="1500">
                <a:solidFill>
                  <a:srgbClr val="8C98A8"/>
                </a:solidFill>
              </a:rPr>
              <a:t>  —  needs a gauge measuring tool at every spot</a:t>
            </a:r>
          </a:p>
          <a:p>
            <a:pPr>
              <a:spcAft>
                <a:spcPts val="1000"/>
              </a:spcAft>
            </a:pPr>
            <a:r>
              <a:rPr sz="1800" b="1">
                <a:solidFill>
                  <a:srgbClr val="E6ECF3"/>
                </a:solidFill>
              </a:rPr>
              <a:t>▸ Obstructions on the line</a:t>
            </a:r>
            <a:r>
              <a:rPr sz="1500">
                <a:solidFill>
                  <a:srgbClr val="8C98A8"/>
                </a:solidFill>
              </a:rPr>
              <a:t>  —  boulders, fallen trees, cattle are found only when a train arrives</a:t>
            </a:r>
          </a:p>
          <a:p>
            <a:pPr>
              <a:spcAft>
                <a:spcPts val="1000"/>
              </a:spcAft>
            </a:pPr>
            <a:r>
              <a:rPr sz="1800" b="1">
                <a:solidFill>
                  <a:srgbClr val="E6ECF3"/>
                </a:solidFill>
              </a:rPr>
              <a:t>▸ Paper records</a:t>
            </a:r>
            <a:r>
              <a:rPr sz="1500">
                <a:solidFill>
                  <a:srgbClr val="8C98A8"/>
                </a:solidFill>
              </a:rPr>
              <a:t>  —  no exact location or photo evidence for the maintenance gang</a:t>
            </a:r>
          </a:p>
          <a:p>
            <a:pPr>
              <a:spcAft>
                <a:spcPts val="1000"/>
              </a:spcAft>
            </a:pPr>
            <a:r>
              <a:rPr sz="1800" b="1">
                <a:solidFill>
                  <a:srgbClr val="E6ECF3"/>
                </a:solidFill>
              </a:rPr>
              <a:t>▸ Track-recording cars are costly</a:t>
            </a:r>
            <a:r>
              <a:rPr sz="1500">
                <a:solidFill>
                  <a:srgbClr val="8C98A8"/>
                </a:solidFill>
              </a:rPr>
              <a:t>  —  few of them, so inspection is infrequent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defRPr sz="1400" b="1">
                <a:solidFill>
                  <a:srgbClr val="3CBEE6"/>
                </a:solidFill>
              </a:defRPr>
            </a:pPr>
            <a:r>
              <a:t>EXISTING SYSTEM</a:t>
            </a:r>
          </a:p>
        </p:txBody>
      </p:sp>
      <p:sp>
        <p:nvSpPr>
          <p:cNvPr id="3" name="TextBox 2"/>
          <p:cNvSpPr txBox="1"/>
          <p:nvPr/>
        </p:nvSpPr>
        <p:spPr>
          <a:xfrm>
            <a:off x="548640" y="594360"/>
            <a:ext cx="10972800" cy="731520"/>
          </a:xfrm>
          <a:prstGeom prst="rect">
            <a:avLst/>
          </a:prstGeom>
          <a:noFill/>
        </p:spPr>
        <p:txBody>
          <a:bodyPr wrap="square">
            <a:spAutoFit/>
          </a:bodyPr>
          <a:lstStyle/>
          <a:p>
            <a:pPr>
              <a:defRPr sz="3200" b="1">
                <a:solidFill>
                  <a:srgbClr val="E6ECF3"/>
                </a:solidFill>
              </a:defRPr>
            </a:pPr>
            <a:r>
              <a:t>Existing system &amp; its drawbacks</a:t>
            </a:r>
          </a:p>
        </p:txBody>
      </p:sp>
      <p:sp>
        <p:nvSpPr>
          <p:cNvPr id="4" name="TextBox 3"/>
          <p:cNvSpPr txBox="1"/>
          <p:nvPr/>
        </p:nvSpPr>
        <p:spPr>
          <a:xfrm>
            <a:off x="548640" y="1463040"/>
            <a:ext cx="5486400" cy="457200"/>
          </a:xfrm>
          <a:prstGeom prst="rect">
            <a:avLst/>
          </a:prstGeom>
          <a:noFill/>
        </p:spPr>
        <p:txBody>
          <a:bodyPr wrap="square">
            <a:spAutoFit/>
          </a:bodyPr>
          <a:lstStyle/>
          <a:p>
            <a:pPr>
              <a:defRPr sz="2000" b="1">
                <a:solidFill>
                  <a:srgbClr val="3CBEE6"/>
                </a:solidFill>
              </a:defRPr>
            </a:pPr>
            <a:r>
              <a:t>Existing methods</a:t>
            </a:r>
          </a:p>
        </p:txBody>
      </p:sp>
      <p:sp>
        <p:nvSpPr>
          <p:cNvPr id="5" name="TextBox 4"/>
          <p:cNvSpPr txBox="1"/>
          <p:nvPr/>
        </p:nvSpPr>
        <p:spPr>
          <a:xfrm>
            <a:off x="548640" y="2011680"/>
            <a:ext cx="5486400" cy="4114800"/>
          </a:xfrm>
          <a:prstGeom prst="rect">
            <a:avLst/>
          </a:prstGeom>
          <a:noFill/>
        </p:spPr>
        <p:txBody>
          <a:bodyPr wrap="square">
            <a:spAutoFit/>
          </a:bodyPr>
          <a:lstStyle/>
          <a:p>
            <a:pPr>
              <a:spcAft>
                <a:spcPts val="1000"/>
              </a:spcAft>
            </a:pPr>
            <a:r>
              <a:rPr sz="1600" b="1">
                <a:solidFill>
                  <a:srgbClr val="E6ECF3"/>
                </a:solidFill>
              </a:rPr>
              <a:t>▸ Manual patrolling</a:t>
            </a:r>
            <a:r>
              <a:rPr sz="1300">
                <a:solidFill>
                  <a:srgbClr val="8C98A8"/>
                </a:solidFill>
              </a:rPr>
              <a:t>  —  keyman walks the section daily</a:t>
            </a:r>
          </a:p>
          <a:p>
            <a:pPr>
              <a:spcAft>
                <a:spcPts val="1000"/>
              </a:spcAft>
            </a:pPr>
            <a:r>
              <a:rPr sz="1600" b="1">
                <a:solidFill>
                  <a:srgbClr val="E6ECF3"/>
                </a:solidFill>
              </a:rPr>
              <a:t>▸ Push trolley inspection</a:t>
            </a:r>
            <a:r>
              <a:rPr sz="1300">
                <a:solidFill>
                  <a:srgbClr val="8C98A8"/>
                </a:solidFill>
              </a:rPr>
              <a:t>  —  visual check, hand gauge</a:t>
            </a:r>
          </a:p>
          <a:p>
            <a:pPr>
              <a:spcAft>
                <a:spcPts val="1000"/>
              </a:spcAft>
            </a:pPr>
            <a:r>
              <a:rPr sz="1600" b="1">
                <a:solidFill>
                  <a:srgbClr val="E6ECF3"/>
                </a:solidFill>
              </a:rPr>
              <a:t>▸ Ultrasonic flaw-detection trolleys</a:t>
            </a:r>
            <a:r>
              <a:rPr sz="1300">
                <a:solidFill>
                  <a:srgbClr val="8C98A8"/>
                </a:solidFill>
              </a:rPr>
              <a:t>  —  operated manually</a:t>
            </a:r>
          </a:p>
          <a:p>
            <a:pPr>
              <a:spcAft>
                <a:spcPts val="1000"/>
              </a:spcAft>
            </a:pPr>
            <a:r>
              <a:rPr sz="1600" b="1">
                <a:solidFill>
                  <a:srgbClr val="E6ECF3"/>
                </a:solidFill>
              </a:rPr>
              <a:t>▸ Track recording cars</a:t>
            </a:r>
            <a:r>
              <a:rPr sz="1300">
                <a:solidFill>
                  <a:srgbClr val="8C98A8"/>
                </a:solidFill>
              </a:rPr>
              <a:t>  —  periodic, high cost</a:t>
            </a:r>
          </a:p>
        </p:txBody>
      </p:sp>
      <p:sp>
        <p:nvSpPr>
          <p:cNvPr id="6" name="TextBox 5"/>
          <p:cNvSpPr txBox="1"/>
          <p:nvPr/>
        </p:nvSpPr>
        <p:spPr>
          <a:xfrm>
            <a:off x="6400800" y="1463040"/>
            <a:ext cx="5486400" cy="457200"/>
          </a:xfrm>
          <a:prstGeom prst="rect">
            <a:avLst/>
          </a:prstGeom>
          <a:noFill/>
        </p:spPr>
        <p:txBody>
          <a:bodyPr wrap="square">
            <a:spAutoFit/>
          </a:bodyPr>
          <a:lstStyle/>
          <a:p>
            <a:pPr>
              <a:defRPr sz="2000" b="1">
                <a:solidFill>
                  <a:srgbClr val="EB4040"/>
                </a:solidFill>
              </a:defRPr>
            </a:pPr>
            <a:r>
              <a:t>Drawbacks</a:t>
            </a:r>
          </a:p>
        </p:txBody>
      </p:sp>
      <p:sp>
        <p:nvSpPr>
          <p:cNvPr id="7" name="TextBox 6"/>
          <p:cNvSpPr txBox="1"/>
          <p:nvPr/>
        </p:nvSpPr>
        <p:spPr>
          <a:xfrm>
            <a:off x="6400800" y="2011680"/>
            <a:ext cx="5303520" cy="4114800"/>
          </a:xfrm>
          <a:prstGeom prst="rect">
            <a:avLst/>
          </a:prstGeom>
          <a:noFill/>
        </p:spPr>
        <p:txBody>
          <a:bodyPr wrap="square">
            <a:spAutoFit/>
          </a:bodyPr>
          <a:lstStyle/>
          <a:p>
            <a:pPr>
              <a:spcAft>
                <a:spcPts val="1000"/>
              </a:spcAft>
            </a:pPr>
            <a:r>
              <a:rPr sz="1600" b="1">
                <a:solidFill>
                  <a:srgbClr val="E6ECF3"/>
                </a:solidFill>
              </a:rPr>
              <a:t>▸ Slow</a:t>
            </a:r>
            <a:r>
              <a:rPr sz="1300">
                <a:solidFill>
                  <a:srgbClr val="8C98A8"/>
                </a:solidFill>
              </a:rPr>
              <a:t>  —  few km per shift</a:t>
            </a:r>
          </a:p>
          <a:p>
            <a:pPr>
              <a:spcAft>
                <a:spcPts val="1000"/>
              </a:spcAft>
            </a:pPr>
            <a:r>
              <a:rPr sz="1600" b="1">
                <a:solidFill>
                  <a:srgbClr val="E6ECF3"/>
                </a:solidFill>
              </a:rPr>
              <a:t>▸ Human error and fatigue</a:t>
            </a:r>
          </a:p>
          <a:p>
            <a:pPr>
              <a:spcAft>
                <a:spcPts val="1000"/>
              </a:spcAft>
            </a:pPr>
            <a:r>
              <a:rPr sz="1600" b="1">
                <a:solidFill>
                  <a:srgbClr val="E6ECF3"/>
                </a:solidFill>
              </a:rPr>
              <a:t>▸ No exact location / photo record</a:t>
            </a:r>
          </a:p>
          <a:p>
            <a:pPr>
              <a:spcAft>
                <a:spcPts val="1000"/>
              </a:spcAft>
            </a:pPr>
            <a:r>
              <a:rPr sz="1600" b="1">
                <a:solidFill>
                  <a:srgbClr val="E6ECF3"/>
                </a:solidFill>
              </a:rPr>
              <a:t>▸ Obstacles not detected in advance</a:t>
            </a:r>
          </a:p>
          <a:p>
            <a:pPr>
              <a:spcAft>
                <a:spcPts val="1000"/>
              </a:spcAft>
            </a:pPr>
            <a:r>
              <a:rPr sz="1600" b="1">
                <a:solidFill>
                  <a:srgbClr val="E6ECF3"/>
                </a:solidFill>
              </a:rPr>
              <a:t>▸ Infrequent, expensive equipment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defRPr sz="1400" b="1">
                <a:solidFill>
                  <a:srgbClr val="3CBEE6"/>
                </a:solidFill>
              </a:defRPr>
            </a:pPr>
            <a:r>
              <a:t>OUR IDEA</a:t>
            </a:r>
          </a:p>
        </p:txBody>
      </p:sp>
      <p:sp>
        <p:nvSpPr>
          <p:cNvPr id="3" name="TextBox 2"/>
          <p:cNvSpPr txBox="1"/>
          <p:nvPr/>
        </p:nvSpPr>
        <p:spPr>
          <a:xfrm>
            <a:off x="548640" y="594360"/>
            <a:ext cx="10972800" cy="731520"/>
          </a:xfrm>
          <a:prstGeom prst="rect">
            <a:avLst/>
          </a:prstGeom>
          <a:noFill/>
        </p:spPr>
        <p:txBody>
          <a:bodyPr wrap="square">
            <a:spAutoFit/>
          </a:bodyPr>
          <a:lstStyle/>
          <a:p>
            <a:pPr>
              <a:defRPr sz="3200" b="1">
                <a:solidFill>
                  <a:srgbClr val="E6ECF3"/>
                </a:solidFill>
              </a:defRPr>
            </a:pPr>
            <a:r>
              <a:t>Proposed solution: an autonomous rail-mounted robot</a:t>
            </a:r>
          </a:p>
        </p:txBody>
      </p:sp>
      <p:sp>
        <p:nvSpPr>
          <p:cNvPr id="4" name="TextBox 3"/>
          <p:cNvSpPr txBox="1"/>
          <p:nvPr/>
        </p:nvSpPr>
        <p:spPr>
          <a:xfrm>
            <a:off x="548640" y="1554480"/>
            <a:ext cx="6583680" cy="4572000"/>
          </a:xfrm>
          <a:prstGeom prst="rect">
            <a:avLst/>
          </a:prstGeom>
          <a:noFill/>
        </p:spPr>
        <p:txBody>
          <a:bodyPr wrap="square">
            <a:spAutoFit/>
          </a:bodyPr>
          <a:lstStyle/>
          <a:p>
            <a:pPr>
              <a:spcAft>
                <a:spcPts val="1000"/>
              </a:spcAft>
            </a:pPr>
            <a:r>
              <a:rPr sz="1700" b="1">
                <a:solidFill>
                  <a:srgbClr val="E6ECF3"/>
                </a:solidFill>
              </a:rPr>
              <a:t>▸ Runs on the rails by itself</a:t>
            </a:r>
            <a:r>
              <a:rPr sz="1400">
                <a:solidFill>
                  <a:srgbClr val="8C98A8"/>
                </a:solidFill>
              </a:rPr>
              <a:t>  —  flanged wheels, DC motors, PI speed control</a:t>
            </a:r>
          </a:p>
          <a:p>
            <a:pPr>
              <a:spcAft>
                <a:spcPts val="1000"/>
              </a:spcAft>
            </a:pPr>
            <a:r>
              <a:rPr sz="1700" b="1">
                <a:solidFill>
                  <a:srgbClr val="E6ECF3"/>
                </a:solidFill>
              </a:rPr>
              <a:t>▸ Down-looking camera</a:t>
            </a:r>
            <a:r>
              <a:rPr sz="1400">
                <a:solidFill>
                  <a:srgbClr val="8C98A8"/>
                </a:solidFill>
              </a:rPr>
              <a:t>  —  detects rail-head cracks and measures track gauge in every frame</a:t>
            </a:r>
          </a:p>
          <a:p>
            <a:pPr>
              <a:spcAft>
                <a:spcPts val="1000"/>
              </a:spcAft>
            </a:pPr>
            <a:r>
              <a:rPr sz="1700" b="1">
                <a:solidFill>
                  <a:srgbClr val="E6ECF3"/>
                </a:solidFill>
              </a:rPr>
              <a:t>▸ Front camera + ultrasonic</a:t>
            </a:r>
            <a:r>
              <a:rPr sz="1400">
                <a:solidFill>
                  <a:srgbClr val="8C98A8"/>
                </a:solidFill>
              </a:rPr>
              <a:t>  —  slows down for far obstacles, emergency-stops at 2 m</a:t>
            </a:r>
          </a:p>
          <a:p>
            <a:pPr>
              <a:spcAft>
                <a:spcPts val="1000"/>
              </a:spcAft>
            </a:pPr>
            <a:r>
              <a:rPr sz="1700" b="1">
                <a:solidFill>
                  <a:srgbClr val="E6ECF3"/>
                </a:solidFill>
              </a:rPr>
              <a:t>▸ Encoder + GPS</a:t>
            </a:r>
            <a:r>
              <a:rPr sz="1400">
                <a:solidFill>
                  <a:srgbClr val="8C98A8"/>
                </a:solidFill>
              </a:rPr>
              <a:t>  —  every defect tagged with chainage (km) and coordinates</a:t>
            </a:r>
          </a:p>
          <a:p>
            <a:pPr>
              <a:spcAft>
                <a:spcPts val="1000"/>
              </a:spcAft>
            </a:pPr>
            <a:r>
              <a:rPr sz="1700" b="1">
                <a:solidFill>
                  <a:srgbClr val="E6ECF3"/>
                </a:solidFill>
              </a:rPr>
              <a:t>▸ Live web dashboard</a:t>
            </a:r>
            <a:r>
              <a:rPr sz="1400">
                <a:solidFill>
                  <a:srgbClr val="8C98A8"/>
                </a:solidFill>
              </a:rPr>
              <a:t>  —  control room sees cameras, defect map, alerts; can override</a:t>
            </a:r>
          </a:p>
          <a:p>
            <a:pPr>
              <a:spcAft>
                <a:spcPts val="1000"/>
              </a:spcAft>
            </a:pPr>
            <a:r>
              <a:rPr sz="1700" b="1">
                <a:solidFill>
                  <a:srgbClr val="E6ECF3"/>
                </a:solidFill>
              </a:rPr>
              <a:t>▸ Automatic report</a:t>
            </a:r>
            <a:r>
              <a:rPr sz="1400">
                <a:solidFill>
                  <a:srgbClr val="8C98A8"/>
                </a:solidFill>
              </a:rPr>
              <a:t>  —  CSV / PDF with photo of every defect, paint mark on critical ones</a:t>
            </a:r>
          </a:p>
        </p:txBody>
      </p:sp>
      <p:pic>
        <p:nvPicPr>
          <p:cNvPr id="5" name="Picture 4" descr="02_critical_crack.png"/>
          <p:cNvPicPr>
            <a:picLocks noChangeAspect="1"/>
          </p:cNvPicPr>
          <p:nvPr/>
        </p:nvPicPr>
        <p:blipFill>
          <a:blip r:embed="rId2"/>
          <a:stretch>
            <a:fillRect/>
          </a:stretch>
        </p:blipFill>
        <p:spPr>
          <a:xfrm>
            <a:off x="7315200" y="1737360"/>
            <a:ext cx="4480560" cy="252031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defRPr sz="1400" b="1">
                <a:solidFill>
                  <a:srgbClr val="3CBEE6"/>
                </a:solidFill>
              </a:defRPr>
            </a:pPr>
            <a:r>
              <a:t>HARDWARE ARCHITECTURE</a:t>
            </a:r>
          </a:p>
        </p:txBody>
      </p:sp>
      <p:sp>
        <p:nvSpPr>
          <p:cNvPr id="3" name="TextBox 2"/>
          <p:cNvSpPr txBox="1"/>
          <p:nvPr/>
        </p:nvSpPr>
        <p:spPr>
          <a:xfrm>
            <a:off x="548640" y="594360"/>
            <a:ext cx="10972800" cy="731520"/>
          </a:xfrm>
          <a:prstGeom prst="rect">
            <a:avLst/>
          </a:prstGeom>
          <a:noFill/>
        </p:spPr>
        <p:txBody>
          <a:bodyPr wrap="square">
            <a:spAutoFit/>
          </a:bodyPr>
          <a:lstStyle/>
          <a:p>
            <a:pPr>
              <a:defRPr sz="3200" b="1">
                <a:solidFill>
                  <a:srgbClr val="E6ECF3"/>
                </a:solidFill>
              </a:defRPr>
            </a:pPr>
            <a:r>
              <a:t>System block diagram</a:t>
            </a:r>
          </a:p>
        </p:txBody>
      </p:sp>
      <p:pic>
        <p:nvPicPr>
          <p:cNvPr id="4" name="Picture 3" descr="block_diagram.png"/>
          <p:cNvPicPr>
            <a:picLocks noChangeAspect="1"/>
          </p:cNvPicPr>
          <p:nvPr/>
        </p:nvPicPr>
        <p:blipFill>
          <a:blip r:embed="rId2"/>
          <a:stretch>
            <a:fillRect/>
          </a:stretch>
        </p:blipFill>
        <p:spPr>
          <a:xfrm>
            <a:off x="822960" y="1371600"/>
            <a:ext cx="10515600" cy="591502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defRPr sz="1400" b="1">
                <a:solidFill>
                  <a:srgbClr val="3CBEE6"/>
                </a:solidFill>
              </a:defRPr>
            </a:pPr>
            <a:r>
              <a:t>BILL OF MATERIALS</a:t>
            </a:r>
          </a:p>
        </p:txBody>
      </p:sp>
      <p:sp>
        <p:nvSpPr>
          <p:cNvPr id="3" name="TextBox 2"/>
          <p:cNvSpPr txBox="1"/>
          <p:nvPr/>
        </p:nvSpPr>
        <p:spPr>
          <a:xfrm>
            <a:off x="548640" y="594360"/>
            <a:ext cx="10972800" cy="731520"/>
          </a:xfrm>
          <a:prstGeom prst="rect">
            <a:avLst/>
          </a:prstGeom>
          <a:noFill/>
        </p:spPr>
        <p:txBody>
          <a:bodyPr wrap="square">
            <a:spAutoFit/>
          </a:bodyPr>
          <a:lstStyle/>
          <a:p>
            <a:pPr>
              <a:defRPr sz="3200" b="1">
                <a:solidFill>
                  <a:srgbClr val="E6ECF3"/>
                </a:solidFill>
              </a:defRPr>
            </a:pPr>
            <a:r>
              <a:t>Hardware components (≈ ₹ 22-25k)</a:t>
            </a:r>
          </a:p>
        </p:txBody>
      </p:sp>
      <p:graphicFrame>
        <p:nvGraphicFramePr>
          <p:cNvPr id="4" name="Table 3"/>
          <p:cNvGraphicFramePr>
            <a:graphicFrameLocks noGrp="1"/>
          </p:cNvGraphicFramePr>
          <p:nvPr/>
        </p:nvGraphicFramePr>
        <p:xfrm>
          <a:off x="731520" y="1463040"/>
          <a:ext cx="10698480" cy="4754880"/>
        </p:xfrm>
        <a:graphic>
          <a:graphicData uri="http://schemas.openxmlformats.org/drawingml/2006/table">
            <a:tbl>
              <a:tblPr firstRow="1" bandRow="1">
                <a:tableStyleId>{5C22544A-7EE6-4342-B048-85BDC9FD1C3A}</a:tableStyleId>
              </a:tblPr>
              <a:tblGrid>
                <a:gridCol w="4389120"/>
                <a:gridCol w="4389120"/>
                <a:gridCol w="1920240"/>
              </a:tblGrid>
              <a:tr h="432261">
                <a:tc>
                  <a:txBody>
                    <a:bodyPr/>
                    <a:lstStyle/>
                    <a:p>
                      <a:pPr>
                        <a:defRPr sz="1500" b="1">
                          <a:solidFill>
                            <a:srgbClr val="3CBEE6"/>
                          </a:solidFill>
                        </a:defRPr>
                      </a:pPr>
                      <a:r>
                        <a:t>Component</a:t>
                      </a:r>
                    </a:p>
                  </a:txBody>
                  <a:tcPr>
                    <a:solidFill>
                      <a:srgbClr val="222B38"/>
                    </a:solidFill>
                  </a:tcPr>
                </a:tc>
                <a:tc>
                  <a:txBody>
                    <a:bodyPr/>
                    <a:lstStyle/>
                    <a:p>
                      <a:pPr>
                        <a:defRPr sz="1500" b="1">
                          <a:solidFill>
                            <a:srgbClr val="3CBEE6"/>
                          </a:solidFill>
                        </a:defRPr>
                      </a:pPr>
                      <a:r>
                        <a:t>Purpose</a:t>
                      </a:r>
                    </a:p>
                  </a:txBody>
                  <a:tcPr>
                    <a:solidFill>
                      <a:srgbClr val="222B38"/>
                    </a:solidFill>
                  </a:tcPr>
                </a:tc>
                <a:tc>
                  <a:txBody>
                    <a:bodyPr/>
                    <a:lstStyle/>
                    <a:p>
                      <a:pPr>
                        <a:defRPr sz="1500" b="1">
                          <a:solidFill>
                            <a:srgbClr val="3CBEE6"/>
                          </a:solidFill>
                        </a:defRPr>
                      </a:pPr>
                      <a:r>
                        <a:t>₹ approx</a:t>
                      </a:r>
                    </a:p>
                  </a:txBody>
                  <a:tcPr>
                    <a:solidFill>
                      <a:srgbClr val="222B38"/>
                    </a:solidFill>
                  </a:tcPr>
                </a:tc>
              </a:tr>
              <a:tr h="432261">
                <a:tc>
                  <a:txBody>
                    <a:bodyPr/>
                    <a:lstStyle/>
                    <a:p>
                      <a:pPr>
                        <a:defRPr sz="1500" b="0">
                          <a:solidFill>
                            <a:srgbClr val="E6ECF3"/>
                          </a:solidFill>
                        </a:defRPr>
                      </a:pPr>
                      <a:r>
                        <a:t>Raspberry Pi 5 (4 GB) + SD</a:t>
                      </a:r>
                    </a:p>
                  </a:txBody>
                  <a:tcPr>
                    <a:solidFill>
                      <a:srgbClr val="161C25"/>
                    </a:solidFill>
                  </a:tcPr>
                </a:tc>
                <a:tc>
                  <a:txBody>
                    <a:bodyPr/>
                    <a:lstStyle/>
                    <a:p>
                      <a:pPr>
                        <a:defRPr sz="1500" b="0">
                          <a:solidFill>
                            <a:srgbClr val="E6ECF3"/>
                          </a:solidFill>
                        </a:defRPr>
                      </a:pPr>
                      <a:r>
                        <a:t>Vision, control, dashboard</a:t>
                      </a:r>
                    </a:p>
                  </a:txBody>
                  <a:tcPr>
                    <a:solidFill>
                      <a:srgbClr val="161C25"/>
                    </a:solidFill>
                  </a:tcPr>
                </a:tc>
                <a:tc>
                  <a:txBody>
                    <a:bodyPr/>
                    <a:lstStyle/>
                    <a:p>
                      <a:pPr>
                        <a:defRPr sz="1500" b="0">
                          <a:solidFill>
                            <a:srgbClr val="E6ECF3"/>
                          </a:solidFill>
                        </a:defRPr>
                      </a:pPr>
                      <a:r>
                        <a:t>7,500</a:t>
                      </a:r>
                    </a:p>
                  </a:txBody>
                  <a:tcPr>
                    <a:solidFill>
                      <a:srgbClr val="161C25"/>
                    </a:solidFill>
                  </a:tcPr>
                </a:tc>
              </a:tr>
              <a:tr h="432261">
                <a:tc>
                  <a:txBody>
                    <a:bodyPr/>
                    <a:lstStyle/>
                    <a:p>
                      <a:pPr>
                        <a:defRPr sz="1500" b="0">
                          <a:solidFill>
                            <a:srgbClr val="E6ECF3"/>
                          </a:solidFill>
                        </a:defRPr>
                      </a:pPr>
                      <a:r>
                        <a:t>ESP32 DevKit</a:t>
                      </a:r>
                    </a:p>
                  </a:txBody>
                  <a:tcPr>
                    <a:solidFill>
                      <a:srgbClr val="161C25"/>
                    </a:solidFill>
                  </a:tcPr>
                </a:tc>
                <a:tc>
                  <a:txBody>
                    <a:bodyPr/>
                    <a:lstStyle/>
                    <a:p>
                      <a:pPr>
                        <a:defRPr sz="1500" b="0">
                          <a:solidFill>
                            <a:srgbClr val="E6ECF3"/>
                          </a:solidFill>
                        </a:defRPr>
                      </a:pPr>
                      <a:r>
                        <a:t>Motors, sensors, safety stop</a:t>
                      </a:r>
                    </a:p>
                  </a:txBody>
                  <a:tcPr>
                    <a:solidFill>
                      <a:srgbClr val="161C25"/>
                    </a:solidFill>
                  </a:tcPr>
                </a:tc>
                <a:tc>
                  <a:txBody>
                    <a:bodyPr/>
                    <a:lstStyle/>
                    <a:p>
                      <a:pPr>
                        <a:defRPr sz="1500" b="0">
                          <a:solidFill>
                            <a:srgbClr val="E6ECF3"/>
                          </a:solidFill>
                        </a:defRPr>
                      </a:pPr>
                      <a:r>
                        <a:t>450</a:t>
                      </a:r>
                    </a:p>
                  </a:txBody>
                  <a:tcPr>
                    <a:solidFill>
                      <a:srgbClr val="161C25"/>
                    </a:solidFill>
                  </a:tcPr>
                </a:tc>
              </a:tr>
              <a:tr h="432261">
                <a:tc>
                  <a:txBody>
                    <a:bodyPr/>
                    <a:lstStyle/>
                    <a:p>
                      <a:pPr>
                        <a:defRPr sz="1500" b="0">
                          <a:solidFill>
                            <a:srgbClr val="E6ECF3"/>
                          </a:solidFill>
                        </a:defRPr>
                      </a:pPr>
                      <a:r>
                        <a:t>2x camera + LED ring light</a:t>
                      </a:r>
                    </a:p>
                  </a:txBody>
                  <a:tcPr>
                    <a:solidFill>
                      <a:srgbClr val="161C25"/>
                    </a:solidFill>
                  </a:tcPr>
                </a:tc>
                <a:tc>
                  <a:txBody>
                    <a:bodyPr/>
                    <a:lstStyle/>
                    <a:p>
                      <a:pPr>
                        <a:defRPr sz="1500" b="0">
                          <a:solidFill>
                            <a:srgbClr val="E6ECF3"/>
                          </a:solidFill>
                        </a:defRPr>
                      </a:pPr>
                      <a:r>
                        <a:t>Track cam + front cam</a:t>
                      </a:r>
                    </a:p>
                  </a:txBody>
                  <a:tcPr>
                    <a:solidFill>
                      <a:srgbClr val="161C25"/>
                    </a:solidFill>
                  </a:tcPr>
                </a:tc>
                <a:tc>
                  <a:txBody>
                    <a:bodyPr/>
                    <a:lstStyle/>
                    <a:p>
                      <a:pPr>
                        <a:defRPr sz="1500" b="0">
                          <a:solidFill>
                            <a:srgbClr val="E6ECF3"/>
                          </a:solidFill>
                        </a:defRPr>
                      </a:pPr>
                      <a:r>
                        <a:t>3,900</a:t>
                      </a:r>
                    </a:p>
                  </a:txBody>
                  <a:tcPr>
                    <a:solidFill>
                      <a:srgbClr val="161C25"/>
                    </a:solidFill>
                  </a:tcPr>
                </a:tc>
              </a:tr>
              <a:tr h="432261">
                <a:tc>
                  <a:txBody>
                    <a:bodyPr/>
                    <a:lstStyle/>
                    <a:p>
                      <a:pPr>
                        <a:defRPr sz="1500" b="0">
                          <a:solidFill>
                            <a:srgbClr val="E6ECF3"/>
                          </a:solidFill>
                        </a:defRPr>
                      </a:pPr>
                      <a:r>
                        <a:t>HC-SR04 x2 / TF-Luna LiDAR</a:t>
                      </a:r>
                    </a:p>
                  </a:txBody>
                  <a:tcPr>
                    <a:solidFill>
                      <a:srgbClr val="161C25"/>
                    </a:solidFill>
                  </a:tcPr>
                </a:tc>
                <a:tc>
                  <a:txBody>
                    <a:bodyPr/>
                    <a:lstStyle/>
                    <a:p>
                      <a:pPr>
                        <a:defRPr sz="1500" b="0">
                          <a:solidFill>
                            <a:srgbClr val="E6ECF3"/>
                          </a:solidFill>
                        </a:defRPr>
                      </a:pPr>
                      <a:r>
                        <a:t>Obstacle range</a:t>
                      </a:r>
                    </a:p>
                  </a:txBody>
                  <a:tcPr>
                    <a:solidFill>
                      <a:srgbClr val="161C25"/>
                    </a:solidFill>
                  </a:tcPr>
                </a:tc>
                <a:tc>
                  <a:txBody>
                    <a:bodyPr/>
                    <a:lstStyle/>
                    <a:p>
                      <a:pPr>
                        <a:defRPr sz="1500" b="0">
                          <a:solidFill>
                            <a:srgbClr val="E6ECF3"/>
                          </a:solidFill>
                        </a:defRPr>
                      </a:pPr>
                      <a:r>
                        <a:t>200 / 2,000</a:t>
                      </a:r>
                    </a:p>
                  </a:txBody>
                  <a:tcPr>
                    <a:solidFill>
                      <a:srgbClr val="161C25"/>
                    </a:solidFill>
                  </a:tcPr>
                </a:tc>
              </a:tr>
              <a:tr h="432261">
                <a:tc>
                  <a:txBody>
                    <a:bodyPr/>
                    <a:lstStyle/>
                    <a:p>
                      <a:pPr>
                        <a:defRPr sz="1500" b="0">
                          <a:solidFill>
                            <a:srgbClr val="E6ECF3"/>
                          </a:solidFill>
                        </a:defRPr>
                      </a:pPr>
                      <a:r>
                        <a:t>MPU6050, TCRT5000 x2, encoder</a:t>
                      </a:r>
                    </a:p>
                  </a:txBody>
                  <a:tcPr>
                    <a:solidFill>
                      <a:srgbClr val="161C25"/>
                    </a:solidFill>
                  </a:tcPr>
                </a:tc>
                <a:tc>
                  <a:txBody>
                    <a:bodyPr/>
                    <a:lstStyle/>
                    <a:p>
                      <a:pPr>
                        <a:defRPr sz="1500" b="0">
                          <a:solidFill>
                            <a:srgbClr val="E6ECF3"/>
                          </a:solidFill>
                        </a:defRPr>
                      </a:pPr>
                      <a:r>
                        <a:t>Vibration, rail presence, distance</a:t>
                      </a:r>
                    </a:p>
                  </a:txBody>
                  <a:tcPr>
                    <a:solidFill>
                      <a:srgbClr val="161C25"/>
                    </a:solidFill>
                  </a:tcPr>
                </a:tc>
                <a:tc>
                  <a:txBody>
                    <a:bodyPr/>
                    <a:lstStyle/>
                    <a:p>
                      <a:pPr>
                        <a:defRPr sz="1500" b="0">
                          <a:solidFill>
                            <a:srgbClr val="E6ECF3"/>
                          </a:solidFill>
                        </a:defRPr>
                      </a:pPr>
                      <a:r>
                        <a:t>900</a:t>
                      </a:r>
                    </a:p>
                  </a:txBody>
                  <a:tcPr>
                    <a:solidFill>
                      <a:srgbClr val="161C25"/>
                    </a:solidFill>
                  </a:tcPr>
                </a:tc>
              </a:tr>
              <a:tr h="432261">
                <a:tc>
                  <a:txBody>
                    <a:bodyPr/>
                    <a:lstStyle/>
                    <a:p>
                      <a:pPr>
                        <a:defRPr sz="1500" b="0">
                          <a:solidFill>
                            <a:srgbClr val="E6ECF3"/>
                          </a:solidFill>
                        </a:defRPr>
                      </a:pPr>
                      <a:r>
                        <a:t>NEO-6M GPS, SIM800L GSM</a:t>
                      </a:r>
                    </a:p>
                  </a:txBody>
                  <a:tcPr>
                    <a:solidFill>
                      <a:srgbClr val="161C25"/>
                    </a:solidFill>
                  </a:tcPr>
                </a:tc>
                <a:tc>
                  <a:txBody>
                    <a:bodyPr/>
                    <a:lstStyle/>
                    <a:p>
                      <a:pPr>
                        <a:defRPr sz="1500" b="0">
                          <a:solidFill>
                            <a:srgbClr val="E6ECF3"/>
                          </a:solidFill>
                        </a:defRPr>
                      </a:pPr>
                      <a:r>
                        <a:t>Location, SMS alert</a:t>
                      </a:r>
                    </a:p>
                  </a:txBody>
                  <a:tcPr>
                    <a:solidFill>
                      <a:srgbClr val="161C25"/>
                    </a:solidFill>
                  </a:tcPr>
                </a:tc>
                <a:tc>
                  <a:txBody>
                    <a:bodyPr/>
                    <a:lstStyle/>
                    <a:p>
                      <a:pPr>
                        <a:defRPr sz="1500" b="0">
                          <a:solidFill>
                            <a:srgbClr val="E6ECF3"/>
                          </a:solidFill>
                        </a:defRPr>
                      </a:pPr>
                      <a:r>
                        <a:t>900</a:t>
                      </a:r>
                    </a:p>
                  </a:txBody>
                  <a:tcPr>
                    <a:solidFill>
                      <a:srgbClr val="161C25"/>
                    </a:solidFill>
                  </a:tcPr>
                </a:tc>
              </a:tr>
              <a:tr h="432261">
                <a:tc>
                  <a:txBody>
                    <a:bodyPr/>
                    <a:lstStyle/>
                    <a:p>
                      <a:pPr>
                        <a:defRPr sz="1500" b="0">
                          <a:solidFill>
                            <a:srgbClr val="E6ECF3"/>
                          </a:solidFill>
                        </a:defRPr>
                      </a:pPr>
                      <a:r>
                        <a:t>2x 12 V geared motor + BTS7960</a:t>
                      </a:r>
                    </a:p>
                  </a:txBody>
                  <a:tcPr>
                    <a:solidFill>
                      <a:srgbClr val="161C25"/>
                    </a:solidFill>
                  </a:tcPr>
                </a:tc>
                <a:tc>
                  <a:txBody>
                    <a:bodyPr/>
                    <a:lstStyle/>
                    <a:p>
                      <a:pPr>
                        <a:defRPr sz="1500" b="0">
                          <a:solidFill>
                            <a:srgbClr val="E6ECF3"/>
                          </a:solidFill>
                        </a:defRPr>
                      </a:pPr>
                      <a:r>
                        <a:t>Drive</a:t>
                      </a:r>
                    </a:p>
                  </a:txBody>
                  <a:tcPr>
                    <a:solidFill>
                      <a:srgbClr val="161C25"/>
                    </a:solidFill>
                  </a:tcPr>
                </a:tc>
                <a:tc>
                  <a:txBody>
                    <a:bodyPr/>
                    <a:lstStyle/>
                    <a:p>
                      <a:pPr>
                        <a:defRPr sz="1500" b="0">
                          <a:solidFill>
                            <a:srgbClr val="E6ECF3"/>
                          </a:solidFill>
                        </a:defRPr>
                      </a:pPr>
                      <a:r>
                        <a:t>2,050</a:t>
                      </a:r>
                    </a:p>
                  </a:txBody>
                  <a:tcPr>
                    <a:solidFill>
                      <a:srgbClr val="161C25"/>
                    </a:solidFill>
                  </a:tcPr>
                </a:tc>
              </a:tr>
              <a:tr h="432261">
                <a:tc>
                  <a:txBody>
                    <a:bodyPr/>
                    <a:lstStyle/>
                    <a:p>
                      <a:pPr>
                        <a:defRPr sz="1500" b="0">
                          <a:solidFill>
                            <a:srgbClr val="E6ECF3"/>
                          </a:solidFill>
                        </a:defRPr>
                      </a:pPr>
                      <a:r>
                        <a:t>Chassis + flanged wheels</a:t>
                      </a:r>
                    </a:p>
                  </a:txBody>
                  <a:tcPr>
                    <a:solidFill>
                      <a:srgbClr val="161C25"/>
                    </a:solidFill>
                  </a:tcPr>
                </a:tc>
                <a:tc>
                  <a:txBody>
                    <a:bodyPr/>
                    <a:lstStyle/>
                    <a:p>
                      <a:pPr>
                        <a:defRPr sz="1500" b="0">
                          <a:solidFill>
                            <a:srgbClr val="E6ECF3"/>
                          </a:solidFill>
                        </a:defRPr>
                      </a:pPr>
                      <a:r>
                        <a:t>Mechanical</a:t>
                      </a:r>
                    </a:p>
                  </a:txBody>
                  <a:tcPr>
                    <a:solidFill>
                      <a:srgbClr val="161C25"/>
                    </a:solidFill>
                  </a:tcPr>
                </a:tc>
                <a:tc>
                  <a:txBody>
                    <a:bodyPr/>
                    <a:lstStyle/>
                    <a:p>
                      <a:pPr>
                        <a:defRPr sz="1500" b="0">
                          <a:solidFill>
                            <a:srgbClr val="E6ECF3"/>
                          </a:solidFill>
                        </a:defRPr>
                      </a:pPr>
                      <a:r>
                        <a:t>3,000</a:t>
                      </a:r>
                    </a:p>
                  </a:txBody>
                  <a:tcPr>
                    <a:solidFill>
                      <a:srgbClr val="161C25"/>
                    </a:solidFill>
                  </a:tcPr>
                </a:tc>
              </a:tr>
              <a:tr h="432261">
                <a:tc>
                  <a:txBody>
                    <a:bodyPr/>
                    <a:lstStyle/>
                    <a:p>
                      <a:pPr>
                        <a:defRPr sz="1500" b="0">
                          <a:solidFill>
                            <a:srgbClr val="E6ECF3"/>
                          </a:solidFill>
                        </a:defRPr>
                      </a:pPr>
                      <a:r>
                        <a:t>3S Li-ion 10 Ah + BMS + buck</a:t>
                      </a:r>
                    </a:p>
                  </a:txBody>
                  <a:tcPr>
                    <a:solidFill>
                      <a:srgbClr val="161C25"/>
                    </a:solidFill>
                  </a:tcPr>
                </a:tc>
                <a:tc>
                  <a:txBody>
                    <a:bodyPr/>
                    <a:lstStyle/>
                    <a:p>
                      <a:pPr>
                        <a:defRPr sz="1500" b="0">
                          <a:solidFill>
                            <a:srgbClr val="E6ECF3"/>
                          </a:solidFill>
                        </a:defRPr>
                      </a:pPr>
                      <a:r>
                        <a:t>Power</a:t>
                      </a:r>
                    </a:p>
                  </a:txBody>
                  <a:tcPr>
                    <a:solidFill>
                      <a:srgbClr val="161C25"/>
                    </a:solidFill>
                  </a:tcPr>
                </a:tc>
                <a:tc>
                  <a:txBody>
                    <a:bodyPr/>
                    <a:lstStyle/>
                    <a:p>
                      <a:pPr>
                        <a:defRPr sz="1500" b="0">
                          <a:solidFill>
                            <a:srgbClr val="E6ECF3"/>
                          </a:solidFill>
                        </a:defRPr>
                      </a:pPr>
                      <a:r>
                        <a:t>3,000</a:t>
                      </a:r>
                    </a:p>
                  </a:txBody>
                  <a:tcPr>
                    <a:solidFill>
                      <a:srgbClr val="161C25"/>
                    </a:solidFill>
                  </a:tcPr>
                </a:tc>
              </a:tr>
              <a:tr h="432270">
                <a:tc>
                  <a:txBody>
                    <a:bodyPr/>
                    <a:lstStyle/>
                    <a:p>
                      <a:pPr>
                        <a:defRPr sz="1500" b="0">
                          <a:solidFill>
                            <a:srgbClr val="E6ECF3"/>
                          </a:solidFill>
                        </a:defRPr>
                      </a:pPr>
                      <a:r>
                        <a:t>E-stop, buzzer, beacon, paint relay</a:t>
                      </a:r>
                    </a:p>
                  </a:txBody>
                  <a:tcPr>
                    <a:solidFill>
                      <a:srgbClr val="161C25"/>
                    </a:solidFill>
                  </a:tcPr>
                </a:tc>
                <a:tc>
                  <a:txBody>
                    <a:bodyPr/>
                    <a:lstStyle/>
                    <a:p>
                      <a:pPr>
                        <a:defRPr sz="1500" b="0">
                          <a:solidFill>
                            <a:srgbClr val="E6ECF3"/>
                          </a:solidFill>
                        </a:defRPr>
                      </a:pPr>
                      <a:r>
                        <a:t>Safety &amp; marking</a:t>
                      </a:r>
                    </a:p>
                  </a:txBody>
                  <a:tcPr>
                    <a:solidFill>
                      <a:srgbClr val="161C25"/>
                    </a:solidFill>
                  </a:tcPr>
                </a:tc>
                <a:tc>
                  <a:txBody>
                    <a:bodyPr/>
                    <a:lstStyle/>
                    <a:p>
                      <a:pPr>
                        <a:defRPr sz="1500" b="0">
                          <a:solidFill>
                            <a:srgbClr val="E6ECF3"/>
                          </a:solidFill>
                        </a:defRPr>
                      </a:pPr>
                      <a:r>
                        <a:t>700</a:t>
                      </a:r>
                    </a:p>
                  </a:txBody>
                  <a:tcPr>
                    <a:solidFill>
                      <a:srgbClr val="161C25"/>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defRPr sz="1400" b="1">
                <a:solidFill>
                  <a:srgbClr val="3CBEE6"/>
                </a:solidFill>
              </a:defRPr>
            </a:pPr>
            <a:r>
              <a:t>MODULE DESCRIPTION</a:t>
            </a:r>
          </a:p>
        </p:txBody>
      </p:sp>
      <p:sp>
        <p:nvSpPr>
          <p:cNvPr id="3" name="TextBox 2"/>
          <p:cNvSpPr txBox="1"/>
          <p:nvPr/>
        </p:nvSpPr>
        <p:spPr>
          <a:xfrm>
            <a:off x="548640" y="594360"/>
            <a:ext cx="10972800" cy="731520"/>
          </a:xfrm>
          <a:prstGeom prst="rect">
            <a:avLst/>
          </a:prstGeom>
          <a:noFill/>
        </p:spPr>
        <p:txBody>
          <a:bodyPr wrap="square">
            <a:spAutoFit/>
          </a:bodyPr>
          <a:lstStyle/>
          <a:p>
            <a:pPr>
              <a:defRPr sz="3200" b="1">
                <a:solidFill>
                  <a:srgbClr val="E6ECF3"/>
                </a:solidFill>
              </a:defRPr>
            </a:pPr>
            <a:r>
              <a:t>Project modules</a:t>
            </a:r>
          </a:p>
        </p:txBody>
      </p:sp>
      <p:sp>
        <p:nvSpPr>
          <p:cNvPr id="4" name="TextBox 3"/>
          <p:cNvSpPr txBox="1"/>
          <p:nvPr/>
        </p:nvSpPr>
        <p:spPr>
          <a:xfrm>
            <a:off x="548640" y="1554480"/>
            <a:ext cx="11155680" cy="4937760"/>
          </a:xfrm>
          <a:prstGeom prst="rect">
            <a:avLst/>
          </a:prstGeom>
          <a:noFill/>
        </p:spPr>
        <p:txBody>
          <a:bodyPr wrap="square">
            <a:spAutoFit/>
          </a:bodyPr>
          <a:lstStyle/>
          <a:p>
            <a:pPr>
              <a:spcAft>
                <a:spcPts val="1000"/>
              </a:spcAft>
            </a:pPr>
            <a:r>
              <a:rPr sz="1800" b="1">
                <a:solidFill>
                  <a:srgbClr val="E6ECF3"/>
                </a:solidFill>
              </a:rPr>
              <a:t>▸ 1. Track vision module</a:t>
            </a:r>
            <a:r>
              <a:rPr sz="1500">
                <a:solidFill>
                  <a:srgbClr val="8C98A8"/>
                </a:solidFill>
              </a:rPr>
              <a:t>  —  rail localisation, gauge measurement, crack detection (OpenCV)</a:t>
            </a:r>
          </a:p>
          <a:p>
            <a:pPr>
              <a:spcAft>
                <a:spcPts val="1000"/>
              </a:spcAft>
            </a:pPr>
            <a:r>
              <a:rPr sz="1800" b="1">
                <a:solidFill>
                  <a:srgbClr val="E6ECF3"/>
                </a:solidFill>
              </a:rPr>
              <a:t>▸ 2. Obstacle detection module</a:t>
            </a:r>
            <a:r>
              <a:rPr sz="1500">
                <a:solidFill>
                  <a:srgbClr val="8C98A8"/>
                </a:solidFill>
              </a:rPr>
              <a:t>  —  front camera + ultrasonic sensor fusion</a:t>
            </a:r>
          </a:p>
          <a:p>
            <a:pPr>
              <a:spcAft>
                <a:spcPts val="1000"/>
              </a:spcAft>
            </a:pPr>
            <a:r>
              <a:rPr sz="1800" b="1">
                <a:solidFill>
                  <a:srgbClr val="E6ECF3"/>
                </a:solidFill>
              </a:rPr>
              <a:t>▸ 3. Robot control module</a:t>
            </a:r>
            <a:r>
              <a:rPr sz="1500">
                <a:solidFill>
                  <a:srgbClr val="8C98A8"/>
                </a:solidFill>
              </a:rPr>
              <a:t>  —  state machine: inspect / slow / stop / resume / manual</a:t>
            </a:r>
          </a:p>
          <a:p>
            <a:pPr>
              <a:spcAft>
                <a:spcPts val="1000"/>
              </a:spcAft>
            </a:pPr>
            <a:r>
              <a:rPr sz="1800" b="1">
                <a:solidFill>
                  <a:srgbClr val="E6ECF3"/>
                </a:solidFill>
              </a:rPr>
              <a:t>▸ 4. Motor &amp; sensor firmware</a:t>
            </a:r>
            <a:r>
              <a:rPr sz="1500">
                <a:solidFill>
                  <a:srgbClr val="8C98A8"/>
                </a:solidFill>
              </a:rPr>
              <a:t>  —  ESP32: PI speed control, encoder, IMU, hard-stop, watchdog</a:t>
            </a:r>
          </a:p>
          <a:p>
            <a:pPr>
              <a:spcAft>
                <a:spcPts val="1000"/>
              </a:spcAft>
            </a:pPr>
            <a:r>
              <a:rPr sz="1800" b="1">
                <a:solidFill>
                  <a:srgbClr val="E6ECF3"/>
                </a:solidFill>
              </a:rPr>
              <a:t>▸ 5. Defect logging module</a:t>
            </a:r>
            <a:r>
              <a:rPr sz="1500">
                <a:solidFill>
                  <a:srgbClr val="8C98A8"/>
                </a:solidFill>
              </a:rPr>
              <a:t>  —  de-duplication, chainage + GPS tagging, photo capture, alerts</a:t>
            </a:r>
          </a:p>
          <a:p>
            <a:pPr>
              <a:spcAft>
                <a:spcPts val="1000"/>
              </a:spcAft>
            </a:pPr>
            <a:r>
              <a:rPr sz="1800" b="1">
                <a:solidFill>
                  <a:srgbClr val="E6ECF3"/>
                </a:solidFill>
              </a:rPr>
              <a:t>▸ 6. Dashboard &amp; report module</a:t>
            </a:r>
            <a:r>
              <a:rPr sz="1500">
                <a:solidFill>
                  <a:srgbClr val="8C98A8"/>
                </a:solidFill>
              </a:rPr>
              <a:t>  —  Flask live web UI, defect map, CSV / PDF report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defRPr sz="1400" b="1">
                <a:solidFill>
                  <a:srgbClr val="3CBEE6"/>
                </a:solidFill>
              </a:defRPr>
            </a:pPr>
            <a:r>
              <a:t>SOFTWARE</a:t>
            </a:r>
          </a:p>
        </p:txBody>
      </p:sp>
      <p:sp>
        <p:nvSpPr>
          <p:cNvPr id="3" name="TextBox 2"/>
          <p:cNvSpPr txBox="1"/>
          <p:nvPr/>
        </p:nvSpPr>
        <p:spPr>
          <a:xfrm>
            <a:off x="548640" y="594360"/>
            <a:ext cx="10972800" cy="731520"/>
          </a:xfrm>
          <a:prstGeom prst="rect">
            <a:avLst/>
          </a:prstGeom>
          <a:noFill/>
        </p:spPr>
        <p:txBody>
          <a:bodyPr wrap="square">
            <a:spAutoFit/>
          </a:bodyPr>
          <a:lstStyle/>
          <a:p>
            <a:pPr>
              <a:defRPr sz="3200" b="1">
                <a:solidFill>
                  <a:srgbClr val="E6ECF3"/>
                </a:solidFill>
              </a:defRPr>
            </a:pPr>
            <a:r>
              <a:t>Software requirements</a:t>
            </a:r>
          </a:p>
        </p:txBody>
      </p:sp>
      <p:graphicFrame>
        <p:nvGraphicFramePr>
          <p:cNvPr id="4" name="Table 3"/>
          <p:cNvGraphicFramePr>
            <a:graphicFrameLocks noGrp="1"/>
          </p:cNvGraphicFramePr>
          <p:nvPr/>
        </p:nvGraphicFramePr>
        <p:xfrm>
          <a:off x="731520" y="1554480"/>
          <a:ext cx="10698480" cy="4023360"/>
        </p:xfrm>
        <a:graphic>
          <a:graphicData uri="http://schemas.openxmlformats.org/drawingml/2006/table">
            <a:tbl>
              <a:tblPr firstRow="1" bandRow="1">
                <a:tableStyleId>{5C22544A-7EE6-4342-B048-85BDC9FD1C3A}</a:tableStyleId>
              </a:tblPr>
              <a:tblGrid>
                <a:gridCol w="3840480"/>
                <a:gridCol w="6858000"/>
              </a:tblGrid>
              <a:tr h="502920">
                <a:tc>
                  <a:txBody>
                    <a:bodyPr/>
                    <a:lstStyle/>
                    <a:p>
                      <a:pPr>
                        <a:defRPr sz="1700" b="1">
                          <a:solidFill>
                            <a:srgbClr val="3CBEE6"/>
                          </a:solidFill>
                        </a:defRPr>
                      </a:pPr>
                      <a:r>
                        <a:t>Item</a:t>
                      </a:r>
                    </a:p>
                  </a:txBody>
                  <a:tcPr>
                    <a:solidFill>
                      <a:srgbClr val="222B38"/>
                    </a:solidFill>
                  </a:tcPr>
                </a:tc>
                <a:tc>
                  <a:txBody>
                    <a:bodyPr/>
                    <a:lstStyle/>
                    <a:p>
                      <a:pPr>
                        <a:defRPr sz="1700" b="1">
                          <a:solidFill>
                            <a:srgbClr val="3CBEE6"/>
                          </a:solidFill>
                        </a:defRPr>
                      </a:pPr>
                      <a:r>
                        <a:t>Used</a:t>
                      </a:r>
                    </a:p>
                  </a:txBody>
                  <a:tcPr>
                    <a:solidFill>
                      <a:srgbClr val="222B38"/>
                    </a:solidFill>
                  </a:tcPr>
                </a:tc>
              </a:tr>
              <a:tr h="502920">
                <a:tc>
                  <a:txBody>
                    <a:bodyPr/>
                    <a:lstStyle/>
                    <a:p>
                      <a:pPr>
                        <a:defRPr sz="1700" b="1">
                          <a:solidFill>
                            <a:srgbClr val="E6ECF3"/>
                          </a:solidFill>
                        </a:defRPr>
                      </a:pPr>
                      <a:r>
                        <a:t>Programming languages</a:t>
                      </a:r>
                    </a:p>
                  </a:txBody>
                  <a:tcPr>
                    <a:solidFill>
                      <a:srgbClr val="161C25"/>
                    </a:solidFill>
                  </a:tcPr>
                </a:tc>
                <a:tc>
                  <a:txBody>
                    <a:bodyPr/>
                    <a:lstStyle/>
                    <a:p>
                      <a:pPr>
                        <a:defRPr sz="1700" b="0">
                          <a:solidFill>
                            <a:srgbClr val="E6ECF3"/>
                          </a:solidFill>
                        </a:defRPr>
                      </a:pPr>
                      <a:r>
                        <a:t>Python 3, C++ (Arduino), JavaScript, HTML/CSS</a:t>
                      </a:r>
                    </a:p>
                  </a:txBody>
                  <a:tcPr>
                    <a:solidFill>
                      <a:srgbClr val="161C25"/>
                    </a:solidFill>
                  </a:tcPr>
                </a:tc>
              </a:tr>
              <a:tr h="502920">
                <a:tc>
                  <a:txBody>
                    <a:bodyPr/>
                    <a:lstStyle/>
                    <a:p>
                      <a:pPr>
                        <a:defRPr sz="1700" b="1">
                          <a:solidFill>
                            <a:srgbClr val="E6ECF3"/>
                          </a:solidFill>
                        </a:defRPr>
                      </a:pPr>
                      <a:r>
                        <a:t>Computer vision</a:t>
                      </a:r>
                    </a:p>
                  </a:txBody>
                  <a:tcPr>
                    <a:solidFill>
                      <a:srgbClr val="161C25"/>
                    </a:solidFill>
                  </a:tcPr>
                </a:tc>
                <a:tc>
                  <a:txBody>
                    <a:bodyPr/>
                    <a:lstStyle/>
                    <a:p>
                      <a:pPr>
                        <a:defRPr sz="1700" b="0">
                          <a:solidFill>
                            <a:srgbClr val="E6ECF3"/>
                          </a:solidFill>
                        </a:defRPr>
                      </a:pPr>
                      <a:r>
                        <a:t>OpenCV, NumPy</a:t>
                      </a:r>
                    </a:p>
                  </a:txBody>
                  <a:tcPr>
                    <a:solidFill>
                      <a:srgbClr val="161C25"/>
                    </a:solidFill>
                  </a:tcPr>
                </a:tc>
              </a:tr>
              <a:tr h="502920">
                <a:tc>
                  <a:txBody>
                    <a:bodyPr/>
                    <a:lstStyle/>
                    <a:p>
                      <a:pPr>
                        <a:defRPr sz="1700" b="1">
                          <a:solidFill>
                            <a:srgbClr val="E6ECF3"/>
                          </a:solidFill>
                        </a:defRPr>
                      </a:pPr>
                      <a:r>
                        <a:t>Web framework</a:t>
                      </a:r>
                    </a:p>
                  </a:txBody>
                  <a:tcPr>
                    <a:solidFill>
                      <a:srgbClr val="161C25"/>
                    </a:solidFill>
                  </a:tcPr>
                </a:tc>
                <a:tc>
                  <a:txBody>
                    <a:bodyPr/>
                    <a:lstStyle/>
                    <a:p>
                      <a:pPr>
                        <a:defRPr sz="1700" b="0">
                          <a:solidFill>
                            <a:srgbClr val="E6ECF3"/>
                          </a:solidFill>
                        </a:defRPr>
                      </a:pPr>
                      <a:r>
                        <a:t>Flask (MJPEG streaming, REST API)</a:t>
                      </a:r>
                    </a:p>
                  </a:txBody>
                  <a:tcPr>
                    <a:solidFill>
                      <a:srgbClr val="161C25"/>
                    </a:solidFill>
                  </a:tcPr>
                </a:tc>
              </a:tr>
              <a:tr h="502920">
                <a:tc>
                  <a:txBody>
                    <a:bodyPr/>
                    <a:lstStyle/>
                    <a:p>
                      <a:pPr>
                        <a:defRPr sz="1700" b="1">
                          <a:solidFill>
                            <a:srgbClr val="E6ECF3"/>
                          </a:solidFill>
                        </a:defRPr>
                      </a:pPr>
                      <a:r>
                        <a:t>Firmware IDE</a:t>
                      </a:r>
                    </a:p>
                  </a:txBody>
                  <a:tcPr>
                    <a:solidFill>
                      <a:srgbClr val="161C25"/>
                    </a:solidFill>
                  </a:tcPr>
                </a:tc>
                <a:tc>
                  <a:txBody>
                    <a:bodyPr/>
                    <a:lstStyle/>
                    <a:p>
                      <a:pPr>
                        <a:defRPr sz="1700" b="0">
                          <a:solidFill>
                            <a:srgbClr val="E6ECF3"/>
                          </a:solidFill>
                        </a:defRPr>
                      </a:pPr>
                      <a:r>
                        <a:t>Arduino IDE with ESP32 core 3.x</a:t>
                      </a:r>
                    </a:p>
                  </a:txBody>
                  <a:tcPr>
                    <a:solidFill>
                      <a:srgbClr val="161C25"/>
                    </a:solidFill>
                  </a:tcPr>
                </a:tc>
              </a:tr>
              <a:tr h="502920">
                <a:tc>
                  <a:txBody>
                    <a:bodyPr/>
                    <a:lstStyle/>
                    <a:p>
                      <a:pPr>
                        <a:defRPr sz="1700" b="1">
                          <a:solidFill>
                            <a:srgbClr val="E6ECF3"/>
                          </a:solidFill>
                        </a:defRPr>
                      </a:pPr>
                      <a:r>
                        <a:t>Robot OS</a:t>
                      </a:r>
                    </a:p>
                  </a:txBody>
                  <a:tcPr>
                    <a:solidFill>
                      <a:srgbClr val="161C25"/>
                    </a:solidFill>
                  </a:tcPr>
                </a:tc>
                <a:tc>
                  <a:txBody>
                    <a:bodyPr/>
                    <a:lstStyle/>
                    <a:p>
                      <a:pPr>
                        <a:defRPr sz="1700" b="0">
                          <a:solidFill>
                            <a:srgbClr val="E6ECF3"/>
                          </a:solidFill>
                        </a:defRPr>
                      </a:pPr>
                      <a:r>
                        <a:t>Raspberry Pi OS (64-bit)</a:t>
                      </a:r>
                    </a:p>
                  </a:txBody>
                  <a:tcPr>
                    <a:solidFill>
                      <a:srgbClr val="161C25"/>
                    </a:solidFill>
                  </a:tcPr>
                </a:tc>
              </a:tr>
              <a:tr h="502920">
                <a:tc>
                  <a:txBody>
                    <a:bodyPr/>
                    <a:lstStyle/>
                    <a:p>
                      <a:pPr>
                        <a:defRPr sz="1700" b="1">
                          <a:solidFill>
                            <a:srgbClr val="E6ECF3"/>
                          </a:solidFill>
                        </a:defRPr>
                      </a:pPr>
                      <a:r>
                        <a:t>Communication</a:t>
                      </a:r>
                    </a:p>
                  </a:txBody>
                  <a:tcPr>
                    <a:solidFill>
                      <a:srgbClr val="161C25"/>
                    </a:solidFill>
                  </a:tcPr>
                </a:tc>
                <a:tc>
                  <a:txBody>
                    <a:bodyPr/>
                    <a:lstStyle/>
                    <a:p>
                      <a:pPr>
                        <a:defRPr sz="1700" b="0">
                          <a:solidFill>
                            <a:srgbClr val="E6ECF3"/>
                          </a:solidFill>
                        </a:defRPr>
                      </a:pPr>
                      <a:r>
                        <a:t>USB serial (JSON), Wi-Fi / 4G</a:t>
                      </a:r>
                    </a:p>
                  </a:txBody>
                  <a:tcPr>
                    <a:solidFill>
                      <a:srgbClr val="161C25"/>
                    </a:solidFill>
                  </a:tcPr>
                </a:tc>
              </a:tr>
              <a:tr h="502920">
                <a:tc>
                  <a:txBody>
                    <a:bodyPr/>
                    <a:lstStyle/>
                    <a:p>
                      <a:pPr>
                        <a:defRPr sz="1700" b="1">
                          <a:solidFill>
                            <a:srgbClr val="E6ECF3"/>
                          </a:solidFill>
                        </a:defRPr>
                      </a:pPr>
                      <a:r>
                        <a:t>Reports &amp; demo</a:t>
                      </a:r>
                    </a:p>
                  </a:txBody>
                  <a:tcPr>
                    <a:solidFill>
                      <a:srgbClr val="161C25"/>
                    </a:solidFill>
                  </a:tcPr>
                </a:tc>
                <a:tc>
                  <a:txBody>
                    <a:bodyPr/>
                    <a:lstStyle/>
                    <a:p>
                      <a:pPr>
                        <a:defRPr sz="1700" b="0">
                          <a:solidFill>
                            <a:srgbClr val="E6ECF3"/>
                          </a:solidFill>
                        </a:defRPr>
                      </a:pPr>
                      <a:r>
                        <a:t>Pillow, FFmpeg, CSV / HTML-PDF</a:t>
                      </a:r>
                    </a:p>
                  </a:txBody>
                  <a:tcPr>
                    <a:solidFill>
                      <a:srgbClr val="161C25"/>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defRPr sz="1400" b="1">
                <a:solidFill>
                  <a:srgbClr val="3CBEE6"/>
                </a:solidFill>
              </a:defRPr>
            </a:pPr>
            <a:r>
              <a:t>COMPUTER VISION (OpenCV)</a:t>
            </a:r>
          </a:p>
        </p:txBody>
      </p:sp>
      <p:sp>
        <p:nvSpPr>
          <p:cNvPr id="3" name="TextBox 2"/>
          <p:cNvSpPr txBox="1"/>
          <p:nvPr/>
        </p:nvSpPr>
        <p:spPr>
          <a:xfrm>
            <a:off x="548640" y="594360"/>
            <a:ext cx="10972800" cy="731520"/>
          </a:xfrm>
          <a:prstGeom prst="rect">
            <a:avLst/>
          </a:prstGeom>
          <a:noFill/>
        </p:spPr>
        <p:txBody>
          <a:bodyPr wrap="square">
            <a:spAutoFit/>
          </a:bodyPr>
          <a:lstStyle/>
          <a:p>
            <a:pPr>
              <a:defRPr sz="3200" b="1">
                <a:solidFill>
                  <a:srgbClr val="E6ECF3"/>
                </a:solidFill>
              </a:defRPr>
            </a:pPr>
            <a:r>
              <a:t>Crack &amp; gauge detection algorithm</a:t>
            </a:r>
          </a:p>
        </p:txBody>
      </p:sp>
      <p:sp>
        <p:nvSpPr>
          <p:cNvPr id="4" name="TextBox 3"/>
          <p:cNvSpPr txBox="1"/>
          <p:nvPr/>
        </p:nvSpPr>
        <p:spPr>
          <a:xfrm>
            <a:off x="548640" y="1554480"/>
            <a:ext cx="11155680" cy="4937760"/>
          </a:xfrm>
          <a:prstGeom prst="rect">
            <a:avLst/>
          </a:prstGeom>
          <a:noFill/>
        </p:spPr>
        <p:txBody>
          <a:bodyPr wrap="square">
            <a:spAutoFit/>
          </a:bodyPr>
          <a:lstStyle/>
          <a:p>
            <a:pPr>
              <a:spcAft>
                <a:spcPts val="1000"/>
              </a:spcAft>
            </a:pPr>
            <a:r>
              <a:rPr sz="1700" b="1">
                <a:solidFill>
                  <a:srgbClr val="E6ECF3"/>
                </a:solidFill>
              </a:rPr>
              <a:t>▸ 1. Rail localisation</a:t>
            </a:r>
            <a:r>
              <a:rPr sz="1400">
                <a:solidFill>
                  <a:srgbClr val="8C98A8"/>
                </a:solidFill>
              </a:rPr>
              <a:t>  —  8 image bands, column-brightness high-pass → bright 72 mm runs</a:t>
            </a:r>
          </a:p>
          <a:p>
            <a:pPr>
              <a:spcAft>
                <a:spcPts val="1000"/>
              </a:spcAft>
            </a:pPr>
            <a:r>
              <a:rPr sz="1700" b="1">
                <a:solidFill>
                  <a:srgbClr val="E6ECF3"/>
                </a:solidFill>
              </a:rPr>
              <a:t>▸ 2. Gauge</a:t>
            </a:r>
            <a:r>
              <a:rPr sz="1400">
                <a:solidFill>
                  <a:srgbClr val="8C98A8"/>
                </a:solidFill>
              </a:rPr>
              <a:t>  —  (centre R − centre L) × mm/px − head width, median of bands; ±10 mm alarm</a:t>
            </a:r>
          </a:p>
          <a:p>
            <a:pPr>
              <a:spcAft>
                <a:spcPts val="1000"/>
              </a:spcAft>
            </a:pPr>
            <a:r>
              <a:rPr sz="1700" b="1">
                <a:solidFill>
                  <a:srgbClr val="E6ECF3"/>
                </a:solidFill>
              </a:rPr>
              <a:t>▸ 3. Black-hat filter</a:t>
            </a:r>
            <a:r>
              <a:rPr sz="1400">
                <a:solidFill>
                  <a:srgbClr val="8C98A8"/>
                </a:solidFill>
              </a:rPr>
              <a:t>  —  closing(img) − img lights up thin dark lines across the rail</a:t>
            </a:r>
          </a:p>
          <a:p>
            <a:pPr>
              <a:spcAft>
                <a:spcPts val="1000"/>
              </a:spcAft>
            </a:pPr>
            <a:r>
              <a:rPr sz="1700" b="1">
                <a:solidFill>
                  <a:srgbClr val="E6ECF3"/>
                </a:solidFill>
              </a:rPr>
              <a:t>▸ 4. Shape test</a:t>
            </a:r>
            <a:r>
              <a:rPr sz="1400">
                <a:solidFill>
                  <a:srgbClr val="8C98A8"/>
                </a:solidFill>
              </a:rPr>
              <a:t>  —  length ≥ 35 % of head, aspect ≥ 1.8 → rejects round rust / grease stains</a:t>
            </a:r>
          </a:p>
          <a:p>
            <a:pPr>
              <a:spcAft>
                <a:spcPts val="1000"/>
              </a:spcAft>
            </a:pPr>
            <a:r>
              <a:rPr sz="1700" b="1">
                <a:solidFill>
                  <a:srgbClr val="E6ECF3"/>
                </a:solidFill>
              </a:rPr>
              <a:t>▸ 5. Severity</a:t>
            </a:r>
            <a:r>
              <a:rPr sz="1400">
                <a:solidFill>
                  <a:srgbClr val="8C98A8"/>
                </a:solidFill>
              </a:rPr>
              <a:t>  —  MINOR ≥ 35 %, MAJOR ≥ 55 %, CRITICAL ≥ 80 % of rail head</a:t>
            </a:r>
          </a:p>
          <a:p>
            <a:pPr>
              <a:spcAft>
                <a:spcPts val="1000"/>
              </a:spcAft>
            </a:pPr>
            <a:r>
              <a:rPr sz="1700" b="1">
                <a:solidFill>
                  <a:srgbClr val="E6ECF3"/>
                </a:solidFill>
              </a:rPr>
              <a:t>▸ 6. Tracking</a:t>
            </a:r>
            <a:r>
              <a:rPr sz="1400">
                <a:solidFill>
                  <a:srgbClr val="8C98A8"/>
                </a:solidFill>
              </a:rPr>
              <a:t>  —  seen in ≥ 2 frames, merged within 30 cm, located by encoder + pixel offset</a:t>
            </a:r>
          </a:p>
          <a:p>
            <a:pPr>
              <a:spcAft>
                <a:spcPts val="1000"/>
              </a:spcAft>
            </a:pPr>
            <a:r>
              <a:rPr sz="1700" b="1">
                <a:solidFill>
                  <a:srgbClr val="E6ECF3"/>
                </a:solidFill>
              </a:rPr>
              <a:t>▸ 7. Obstacles</a:t>
            </a:r>
            <a:r>
              <a:rPr sz="1400">
                <a:solidFill>
                  <a:srgbClr val="8C98A8"/>
                </a:solidFill>
              </a:rPr>
              <a:t>  —  colour anomaly in track corridor, distance d = f·h / (y − y_horizon)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defRPr sz="1400" b="1">
                <a:solidFill>
                  <a:srgbClr val="3CBEE6"/>
                </a:solidFill>
              </a:defRPr>
            </a:pPr>
            <a:r>
              <a:t>SOFTWARE LOGIC</a:t>
            </a:r>
          </a:p>
        </p:txBody>
      </p:sp>
      <p:sp>
        <p:nvSpPr>
          <p:cNvPr id="3" name="TextBox 2"/>
          <p:cNvSpPr txBox="1"/>
          <p:nvPr/>
        </p:nvSpPr>
        <p:spPr>
          <a:xfrm>
            <a:off x="548640" y="594360"/>
            <a:ext cx="10972800" cy="731520"/>
          </a:xfrm>
          <a:prstGeom prst="rect">
            <a:avLst/>
          </a:prstGeom>
          <a:noFill/>
        </p:spPr>
        <p:txBody>
          <a:bodyPr wrap="square">
            <a:spAutoFit/>
          </a:bodyPr>
          <a:lstStyle/>
          <a:p>
            <a:pPr>
              <a:defRPr sz="3200" b="1">
                <a:solidFill>
                  <a:srgbClr val="E6ECF3"/>
                </a:solidFill>
              </a:defRPr>
            </a:pPr>
            <a:r>
              <a:t>Inspection flowchart</a:t>
            </a:r>
          </a:p>
        </p:txBody>
      </p:sp>
      <p:pic>
        <p:nvPicPr>
          <p:cNvPr id="4" name="Picture 3" descr="flowchart.png"/>
          <p:cNvPicPr>
            <a:picLocks noChangeAspect="1"/>
          </p:cNvPicPr>
          <p:nvPr/>
        </p:nvPicPr>
        <p:blipFill>
          <a:blip r:embed="rId2"/>
          <a:stretch>
            <a:fillRect/>
          </a:stretch>
        </p:blipFill>
        <p:spPr>
          <a:xfrm>
            <a:off x="3840480" y="1234440"/>
            <a:ext cx="4064000" cy="5486400"/>
          </a:xfrm>
          <a:prstGeom prst="rect">
            <a:avLst/>
          </a:prstGeom>
        </p:spPr>
      </p:pic>
      <p:sp>
        <p:nvSpPr>
          <p:cNvPr id="5" name="TextBox 4"/>
          <p:cNvSpPr txBox="1"/>
          <p:nvPr/>
        </p:nvSpPr>
        <p:spPr>
          <a:xfrm>
            <a:off x="548640" y="1645920"/>
            <a:ext cx="3108960" cy="4572000"/>
          </a:xfrm>
          <a:prstGeom prst="rect">
            <a:avLst/>
          </a:prstGeom>
          <a:noFill/>
        </p:spPr>
        <p:txBody>
          <a:bodyPr wrap="square">
            <a:spAutoFit/>
          </a:bodyPr>
          <a:lstStyle/>
          <a:p>
            <a:pPr>
              <a:defRPr sz="1600" b="0">
                <a:solidFill>
                  <a:srgbClr val="8C98A8"/>
                </a:solidFill>
              </a:defRPr>
            </a:pPr>
            <a:r>
              <a:t>State machine:</a:t>
            </a:r>
          </a:p>
          <a:p>
            <a:pPr>
              <a:defRPr sz="1600" b="0">
                <a:solidFill>
                  <a:srgbClr val="8C98A8"/>
                </a:solidFill>
              </a:defRPr>
            </a:pPr>
          </a:p>
          <a:p>
            <a:pPr>
              <a:defRPr sz="1600" b="0">
                <a:solidFill>
                  <a:srgbClr val="8C98A8"/>
                </a:solidFill>
              </a:defRPr>
            </a:pPr>
            <a:r>
              <a:t>IDLE</a:t>
            </a:r>
          </a:p>
          <a:p>
            <a:pPr>
              <a:defRPr sz="1600" b="0">
                <a:solidFill>
                  <a:srgbClr val="8C98A8"/>
                </a:solidFill>
              </a:defRPr>
            </a:pPr>
            <a:r>
              <a:t>→ INSPECTING</a:t>
            </a:r>
          </a:p>
          <a:p>
            <a:pPr>
              <a:defRPr sz="1600" b="0">
                <a:solidFill>
                  <a:srgbClr val="8C98A8"/>
                </a:solidFill>
              </a:defRPr>
            </a:pPr>
            <a:r>
              <a:t>⇄ SLOWING (obstacle &lt; 15 m)</a:t>
            </a:r>
          </a:p>
          <a:p>
            <a:pPr>
              <a:defRPr sz="1600" b="0">
                <a:solidFill>
                  <a:srgbClr val="8C98A8"/>
                </a:solidFill>
              </a:defRPr>
            </a:pPr>
            <a:r>
              <a:t>→ OBSTACLE_STOP (&lt; 2 m)</a:t>
            </a:r>
          </a:p>
          <a:p>
            <a:pPr>
              <a:defRPr sz="1600" b="0">
                <a:solidFill>
                  <a:srgbClr val="8C98A8"/>
                </a:solidFill>
              </a:defRPr>
            </a:pPr>
            <a:r>
              <a:t>→ clear 2 s → INSPECTING</a:t>
            </a:r>
          </a:p>
          <a:p>
            <a:pPr>
              <a:defRPr sz="1600" b="0">
                <a:solidFill>
                  <a:srgbClr val="8C98A8"/>
                </a:solidFill>
              </a:defRPr>
            </a:pPr>
            <a:r>
              <a:t>→ COMPLETED</a:t>
            </a:r>
          </a:p>
          <a:p>
            <a:pPr>
              <a:defRPr sz="1600" b="0">
                <a:solidFill>
                  <a:srgbClr val="8C98A8"/>
                </a:solidFill>
              </a:defRPr>
            </a:pPr>
          </a:p>
          <a:p>
            <a:pPr>
              <a:defRPr sz="1600" b="0">
                <a:solidFill>
                  <a:srgbClr val="8C98A8"/>
                </a:solidFill>
              </a:defRPr>
            </a:pPr>
            <a:r>
              <a:t>Manual override + E-stop</a:t>
            </a:r>
          </a:p>
          <a:p>
            <a:pPr>
              <a:defRPr sz="1600" b="0">
                <a:solidFill>
                  <a:srgbClr val="8C98A8"/>
                </a:solidFill>
              </a:defRPr>
            </a:pPr>
            <a:r>
              <a:t>at any time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defRPr sz="1400" b="1">
                <a:solidFill>
                  <a:srgbClr val="3CBEE6"/>
                </a:solidFill>
              </a:defRPr>
            </a:pPr>
            <a:r>
              <a:t>WEB APP (Flask)</a:t>
            </a:r>
          </a:p>
        </p:txBody>
      </p:sp>
      <p:sp>
        <p:nvSpPr>
          <p:cNvPr id="3" name="TextBox 2"/>
          <p:cNvSpPr txBox="1"/>
          <p:nvPr/>
        </p:nvSpPr>
        <p:spPr>
          <a:xfrm>
            <a:off x="548640" y="594360"/>
            <a:ext cx="10972800" cy="731520"/>
          </a:xfrm>
          <a:prstGeom prst="rect">
            <a:avLst/>
          </a:prstGeom>
          <a:noFill/>
        </p:spPr>
        <p:txBody>
          <a:bodyPr wrap="square">
            <a:spAutoFit/>
          </a:bodyPr>
          <a:lstStyle/>
          <a:p>
            <a:pPr>
              <a:defRPr sz="3200" b="1">
                <a:solidFill>
                  <a:srgbClr val="E6ECF3"/>
                </a:solidFill>
              </a:defRPr>
            </a:pPr>
            <a:r>
              <a:t>Live control-room dashboard</a:t>
            </a:r>
          </a:p>
        </p:txBody>
      </p:sp>
      <p:pic>
        <p:nvPicPr>
          <p:cNvPr id="4" name="Picture 3" descr="04_web_dashboard.png"/>
          <p:cNvPicPr>
            <a:picLocks noChangeAspect="1"/>
          </p:cNvPicPr>
          <p:nvPr/>
        </p:nvPicPr>
        <p:blipFill>
          <a:blip r:embed="rId2"/>
          <a:stretch>
            <a:fillRect/>
          </a:stretch>
        </p:blipFill>
        <p:spPr>
          <a:xfrm>
            <a:off x="548640" y="1371600"/>
            <a:ext cx="5570437" cy="5303520"/>
          </a:xfrm>
          <a:prstGeom prst="rect">
            <a:avLst/>
          </a:prstGeom>
        </p:spPr>
      </p:pic>
      <p:sp>
        <p:nvSpPr>
          <p:cNvPr id="5" name="TextBox 4"/>
          <p:cNvSpPr txBox="1"/>
          <p:nvPr/>
        </p:nvSpPr>
        <p:spPr>
          <a:xfrm>
            <a:off x="6400800" y="1554480"/>
            <a:ext cx="5303520" cy="5029200"/>
          </a:xfrm>
          <a:prstGeom prst="rect">
            <a:avLst/>
          </a:prstGeom>
          <a:noFill/>
        </p:spPr>
        <p:txBody>
          <a:bodyPr wrap="square">
            <a:spAutoFit/>
          </a:bodyPr>
          <a:lstStyle/>
          <a:p>
            <a:pPr>
              <a:defRPr sz="1700" b="0">
                <a:solidFill>
                  <a:srgbClr val="E6ECF3"/>
                </a:solidFill>
              </a:defRPr>
            </a:pPr>
            <a:r>
              <a:t>Live track + front camera</a:t>
            </a:r>
          </a:p>
          <a:p>
            <a:pPr>
              <a:defRPr sz="1700" b="0">
                <a:solidFill>
                  <a:srgbClr val="E6ECF3"/>
                </a:solidFill>
              </a:defRPr>
            </a:pPr>
            <a:r>
              <a:t>Speed, chainage, gauge,</a:t>
            </a:r>
          </a:p>
          <a:p>
            <a:pPr>
              <a:defRPr sz="1700" b="0">
                <a:solidFill>
                  <a:srgbClr val="E6ECF3"/>
                </a:solidFill>
              </a:defRPr>
            </a:pPr>
            <a:r>
              <a:t>range, vibration, battery</a:t>
            </a:r>
          </a:p>
          <a:p>
            <a:pPr>
              <a:defRPr sz="1700" b="0">
                <a:solidFill>
                  <a:srgbClr val="E6ECF3"/>
                </a:solidFill>
              </a:defRPr>
            </a:pPr>
            <a:r>
              <a:t>Defect map + gauge profile</a:t>
            </a:r>
          </a:p>
          <a:p>
            <a:pPr>
              <a:defRPr sz="1700" b="0">
                <a:solidFill>
                  <a:srgbClr val="E6ECF3"/>
                </a:solidFill>
              </a:defRPr>
            </a:pPr>
            <a:r>
              <a:t>Event log + alerts</a:t>
            </a:r>
          </a:p>
          <a:p>
            <a:pPr>
              <a:defRPr sz="1700" b="0">
                <a:solidFill>
                  <a:srgbClr val="E6ECF3"/>
                </a:solidFill>
              </a:defRPr>
            </a:pPr>
            <a:r>
              <a:t>Defect register with photos</a:t>
            </a:r>
          </a:p>
          <a:p>
            <a:pPr>
              <a:defRPr sz="1700" b="0">
                <a:solidFill>
                  <a:srgbClr val="E6ECF3"/>
                </a:solidFill>
              </a:defRPr>
            </a:pPr>
            <a:r>
              <a:t>START / STOP / manual drive</a:t>
            </a:r>
          </a:p>
          <a:p>
            <a:pPr>
              <a:defRPr sz="1700" b="0">
                <a:solidFill>
                  <a:srgbClr val="E6ECF3"/>
                </a:solidFill>
              </a:defRPr>
            </a:pPr>
            <a:r>
              <a:t>CSV + PDF report</a:t>
            </a:r>
          </a:p>
          <a:p>
            <a:pPr>
              <a:defRPr sz="1700" b="0">
                <a:solidFill>
                  <a:srgbClr val="E6ECF3"/>
                </a:solidFill>
              </a:defRPr>
            </a:pPr>
          </a:p>
          <a:p>
            <a:pPr>
              <a:defRPr sz="1700" b="0">
                <a:solidFill>
                  <a:srgbClr val="E6ECF3"/>
                </a:solidFill>
              </a:defRPr>
            </a:pPr>
            <a:r>
              <a:t>Opens on phone / laptop</a:t>
            </a:r>
          </a:p>
          <a:p>
            <a:pPr>
              <a:defRPr sz="1700" b="0">
                <a:solidFill>
                  <a:srgbClr val="E6ECF3"/>
                </a:solidFill>
              </a:defRPr>
            </a:pPr>
            <a:r>
              <a:t>over Wi-Fi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defRPr sz="1400" b="1">
                <a:solidFill>
                  <a:srgbClr val="3CBEE6"/>
                </a:solidFill>
              </a:defRPr>
            </a:pPr>
            <a:r>
              <a:t>RESULTS</a:t>
            </a:r>
          </a:p>
        </p:txBody>
      </p:sp>
      <p:sp>
        <p:nvSpPr>
          <p:cNvPr id="3" name="TextBox 2"/>
          <p:cNvSpPr txBox="1"/>
          <p:nvPr/>
        </p:nvSpPr>
        <p:spPr>
          <a:xfrm>
            <a:off x="548640" y="594360"/>
            <a:ext cx="10972800" cy="731520"/>
          </a:xfrm>
          <a:prstGeom prst="rect">
            <a:avLst/>
          </a:prstGeom>
          <a:noFill/>
        </p:spPr>
        <p:txBody>
          <a:bodyPr wrap="square">
            <a:spAutoFit/>
          </a:bodyPr>
          <a:lstStyle/>
          <a:p>
            <a:pPr>
              <a:defRPr sz="3200" b="1">
                <a:solidFill>
                  <a:srgbClr val="E6ECF3"/>
                </a:solidFill>
              </a:defRPr>
            </a:pPr>
            <a:r>
              <a:t>Demo: obstacle emergency stop</a:t>
            </a:r>
          </a:p>
        </p:txBody>
      </p:sp>
      <p:pic>
        <p:nvPicPr>
          <p:cNvPr id="4" name="Picture 3" descr="03_obstacle_stop.png"/>
          <p:cNvPicPr>
            <a:picLocks noChangeAspect="1"/>
          </p:cNvPicPr>
          <p:nvPr/>
        </p:nvPicPr>
        <p:blipFill>
          <a:blip r:embed="rId2"/>
          <a:stretch>
            <a:fillRect/>
          </a:stretch>
        </p:blipFill>
        <p:spPr>
          <a:xfrm>
            <a:off x="548640" y="1371600"/>
            <a:ext cx="11064240" cy="6223635"/>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defRPr sz="1400" b="1">
                <a:solidFill>
                  <a:srgbClr val="3CBEE6"/>
                </a:solidFill>
              </a:defRPr>
            </a:pPr>
            <a:r>
              <a:t>RESULTS</a:t>
            </a:r>
          </a:p>
        </p:txBody>
      </p:sp>
      <p:sp>
        <p:nvSpPr>
          <p:cNvPr id="3" name="TextBox 2"/>
          <p:cNvSpPr txBox="1"/>
          <p:nvPr/>
        </p:nvSpPr>
        <p:spPr>
          <a:xfrm>
            <a:off x="548640" y="594360"/>
            <a:ext cx="10972800" cy="731520"/>
          </a:xfrm>
          <a:prstGeom prst="rect">
            <a:avLst/>
          </a:prstGeom>
          <a:noFill/>
        </p:spPr>
        <p:txBody>
          <a:bodyPr wrap="square">
            <a:spAutoFit/>
          </a:bodyPr>
          <a:lstStyle/>
          <a:p>
            <a:pPr>
              <a:defRPr sz="3200" b="1">
                <a:solidFill>
                  <a:srgbClr val="E6ECF3"/>
                </a:solidFill>
              </a:defRPr>
            </a:pPr>
            <a:r>
              <a:t>Validation results (80 m test section)</a:t>
            </a:r>
          </a:p>
        </p:txBody>
      </p:sp>
      <p:sp>
        <p:nvSpPr>
          <p:cNvPr id="4" name="Rounded Rectangle 3"/>
          <p:cNvSpPr/>
          <p:nvPr/>
        </p:nvSpPr>
        <p:spPr>
          <a:xfrm>
            <a:off x="548640" y="1645920"/>
            <a:ext cx="2103120" cy="1371600"/>
          </a:xfrm>
          <a:prstGeom prst="roundRect">
            <a:avLst/>
          </a:prstGeom>
          <a:solidFill>
            <a:srgbClr val="161C25"/>
          </a:solidFill>
          <a:ln>
            <a:solidFill>
              <a:srgbClr val="2D37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83080"/>
            <a:ext cx="1737360" cy="731520"/>
          </a:xfrm>
          <a:prstGeom prst="rect">
            <a:avLst/>
          </a:prstGeom>
          <a:noFill/>
        </p:spPr>
        <p:txBody>
          <a:bodyPr wrap="square">
            <a:spAutoFit/>
          </a:bodyPr>
          <a:lstStyle/>
          <a:p>
            <a:pPr>
              <a:defRPr sz="3400" b="1">
                <a:solidFill>
                  <a:srgbClr val="3FC878"/>
                </a:solidFill>
              </a:defRPr>
            </a:pPr>
            <a:r>
              <a:t>7 / 7</a:t>
            </a:r>
          </a:p>
        </p:txBody>
      </p:sp>
      <p:sp>
        <p:nvSpPr>
          <p:cNvPr id="6" name="TextBox 5"/>
          <p:cNvSpPr txBox="1"/>
          <p:nvPr/>
        </p:nvSpPr>
        <p:spPr>
          <a:xfrm>
            <a:off x="731520" y="2514600"/>
            <a:ext cx="1737360" cy="457200"/>
          </a:xfrm>
          <a:prstGeom prst="rect">
            <a:avLst/>
          </a:prstGeom>
          <a:noFill/>
        </p:spPr>
        <p:txBody>
          <a:bodyPr wrap="square">
            <a:spAutoFit/>
          </a:bodyPr>
          <a:lstStyle/>
          <a:p>
            <a:pPr>
              <a:defRPr sz="1300" b="0">
                <a:solidFill>
                  <a:srgbClr val="8C98A8"/>
                </a:solidFill>
              </a:defRPr>
            </a:pPr>
            <a:r>
              <a:t>cracks detected</a:t>
            </a:r>
          </a:p>
        </p:txBody>
      </p:sp>
      <p:sp>
        <p:nvSpPr>
          <p:cNvPr id="7" name="Rounded Rectangle 6"/>
          <p:cNvSpPr/>
          <p:nvPr/>
        </p:nvSpPr>
        <p:spPr>
          <a:xfrm>
            <a:off x="2834640" y="1645920"/>
            <a:ext cx="2103120" cy="1371600"/>
          </a:xfrm>
          <a:prstGeom prst="roundRect">
            <a:avLst/>
          </a:prstGeom>
          <a:solidFill>
            <a:srgbClr val="161C25"/>
          </a:solidFill>
          <a:ln>
            <a:solidFill>
              <a:srgbClr val="2D37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20" y="1783080"/>
            <a:ext cx="1737360" cy="731520"/>
          </a:xfrm>
          <a:prstGeom prst="rect">
            <a:avLst/>
          </a:prstGeom>
          <a:noFill/>
        </p:spPr>
        <p:txBody>
          <a:bodyPr wrap="square">
            <a:spAutoFit/>
          </a:bodyPr>
          <a:lstStyle/>
          <a:p>
            <a:pPr>
              <a:defRPr sz="3400" b="1">
                <a:solidFill>
                  <a:srgbClr val="3FC878"/>
                </a:solidFill>
              </a:defRPr>
            </a:pPr>
            <a:r>
              <a:t>0</a:t>
            </a:r>
          </a:p>
        </p:txBody>
      </p:sp>
      <p:sp>
        <p:nvSpPr>
          <p:cNvPr id="9" name="TextBox 8"/>
          <p:cNvSpPr txBox="1"/>
          <p:nvPr/>
        </p:nvSpPr>
        <p:spPr>
          <a:xfrm>
            <a:off x="3017520" y="2514600"/>
            <a:ext cx="1737360" cy="457200"/>
          </a:xfrm>
          <a:prstGeom prst="rect">
            <a:avLst/>
          </a:prstGeom>
          <a:noFill/>
        </p:spPr>
        <p:txBody>
          <a:bodyPr wrap="square">
            <a:spAutoFit/>
          </a:bodyPr>
          <a:lstStyle/>
          <a:p>
            <a:pPr>
              <a:defRPr sz="1300" b="0">
                <a:solidFill>
                  <a:srgbClr val="8C98A8"/>
                </a:solidFill>
              </a:defRPr>
            </a:pPr>
            <a:r>
              <a:t>false alarms (stains rejected)</a:t>
            </a:r>
          </a:p>
        </p:txBody>
      </p:sp>
      <p:sp>
        <p:nvSpPr>
          <p:cNvPr id="10" name="Rounded Rectangle 9"/>
          <p:cNvSpPr/>
          <p:nvPr/>
        </p:nvSpPr>
        <p:spPr>
          <a:xfrm>
            <a:off x="5120640" y="1645920"/>
            <a:ext cx="2103120" cy="1371600"/>
          </a:xfrm>
          <a:prstGeom prst="roundRect">
            <a:avLst/>
          </a:prstGeom>
          <a:solidFill>
            <a:srgbClr val="161C25"/>
          </a:solidFill>
          <a:ln>
            <a:solidFill>
              <a:srgbClr val="2D37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0" y="1783080"/>
            <a:ext cx="1737360" cy="731520"/>
          </a:xfrm>
          <a:prstGeom prst="rect">
            <a:avLst/>
          </a:prstGeom>
          <a:noFill/>
        </p:spPr>
        <p:txBody>
          <a:bodyPr wrap="square">
            <a:spAutoFit/>
          </a:bodyPr>
          <a:lstStyle/>
          <a:p>
            <a:pPr>
              <a:defRPr sz="3400" b="1">
                <a:solidFill>
                  <a:srgbClr val="3FC878"/>
                </a:solidFill>
              </a:defRPr>
            </a:pPr>
            <a:r>
              <a:t>2 / 2</a:t>
            </a:r>
          </a:p>
        </p:txBody>
      </p:sp>
      <p:sp>
        <p:nvSpPr>
          <p:cNvPr id="12" name="TextBox 11"/>
          <p:cNvSpPr txBox="1"/>
          <p:nvPr/>
        </p:nvSpPr>
        <p:spPr>
          <a:xfrm>
            <a:off x="5303520" y="2514600"/>
            <a:ext cx="1737360" cy="457200"/>
          </a:xfrm>
          <a:prstGeom prst="rect">
            <a:avLst/>
          </a:prstGeom>
          <a:noFill/>
        </p:spPr>
        <p:txBody>
          <a:bodyPr wrap="square">
            <a:spAutoFit/>
          </a:bodyPr>
          <a:lstStyle/>
          <a:p>
            <a:pPr>
              <a:defRPr sz="1300" b="0">
                <a:solidFill>
                  <a:srgbClr val="8C98A8"/>
                </a:solidFill>
              </a:defRPr>
            </a:pPr>
            <a:r>
              <a:t>gauge faults</a:t>
            </a:r>
          </a:p>
        </p:txBody>
      </p:sp>
      <p:sp>
        <p:nvSpPr>
          <p:cNvPr id="13" name="Rounded Rectangle 12"/>
          <p:cNvSpPr/>
          <p:nvPr/>
        </p:nvSpPr>
        <p:spPr>
          <a:xfrm>
            <a:off x="7406640" y="1645920"/>
            <a:ext cx="2103120" cy="1371600"/>
          </a:xfrm>
          <a:prstGeom prst="roundRect">
            <a:avLst/>
          </a:prstGeom>
          <a:solidFill>
            <a:srgbClr val="161C25"/>
          </a:solidFill>
          <a:ln>
            <a:solidFill>
              <a:srgbClr val="2D37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19" y="1783080"/>
            <a:ext cx="1737360" cy="731520"/>
          </a:xfrm>
          <a:prstGeom prst="rect">
            <a:avLst/>
          </a:prstGeom>
          <a:noFill/>
        </p:spPr>
        <p:txBody>
          <a:bodyPr wrap="square">
            <a:spAutoFit/>
          </a:bodyPr>
          <a:lstStyle/>
          <a:p>
            <a:pPr>
              <a:defRPr sz="3400" b="1">
                <a:solidFill>
                  <a:srgbClr val="3FC878"/>
                </a:solidFill>
              </a:defRPr>
            </a:pPr>
            <a:r>
              <a:t>&lt; 1 mm</a:t>
            </a:r>
          </a:p>
        </p:txBody>
      </p:sp>
      <p:sp>
        <p:nvSpPr>
          <p:cNvPr id="15" name="TextBox 14"/>
          <p:cNvSpPr txBox="1"/>
          <p:nvPr/>
        </p:nvSpPr>
        <p:spPr>
          <a:xfrm>
            <a:off x="7589519" y="2514600"/>
            <a:ext cx="1737360" cy="457200"/>
          </a:xfrm>
          <a:prstGeom prst="rect">
            <a:avLst/>
          </a:prstGeom>
          <a:noFill/>
        </p:spPr>
        <p:txBody>
          <a:bodyPr wrap="square">
            <a:spAutoFit/>
          </a:bodyPr>
          <a:lstStyle/>
          <a:p>
            <a:pPr>
              <a:defRPr sz="1300" b="0">
                <a:solidFill>
                  <a:srgbClr val="8C98A8"/>
                </a:solidFill>
              </a:defRPr>
            </a:pPr>
            <a:r>
              <a:t>gauge RMS error</a:t>
            </a:r>
          </a:p>
        </p:txBody>
      </p:sp>
      <p:sp>
        <p:nvSpPr>
          <p:cNvPr id="16" name="Rounded Rectangle 15"/>
          <p:cNvSpPr/>
          <p:nvPr/>
        </p:nvSpPr>
        <p:spPr>
          <a:xfrm>
            <a:off x="9692640" y="1645920"/>
            <a:ext cx="2011680" cy="1371600"/>
          </a:xfrm>
          <a:prstGeom prst="roundRect">
            <a:avLst/>
          </a:prstGeom>
          <a:solidFill>
            <a:srgbClr val="161C25"/>
          </a:solidFill>
          <a:ln>
            <a:solidFill>
              <a:srgbClr val="2D37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19" y="1783080"/>
            <a:ext cx="1645920" cy="731520"/>
          </a:xfrm>
          <a:prstGeom prst="rect">
            <a:avLst/>
          </a:prstGeom>
          <a:noFill/>
        </p:spPr>
        <p:txBody>
          <a:bodyPr wrap="square">
            <a:spAutoFit/>
          </a:bodyPr>
          <a:lstStyle/>
          <a:p>
            <a:pPr>
              <a:defRPr sz="3400" b="1">
                <a:solidFill>
                  <a:srgbClr val="3FC878"/>
                </a:solidFill>
              </a:defRPr>
            </a:pPr>
            <a:r>
              <a:t>2 / 2</a:t>
            </a:r>
          </a:p>
        </p:txBody>
      </p:sp>
      <p:sp>
        <p:nvSpPr>
          <p:cNvPr id="18" name="TextBox 17"/>
          <p:cNvSpPr txBox="1"/>
          <p:nvPr/>
        </p:nvSpPr>
        <p:spPr>
          <a:xfrm>
            <a:off x="9875519" y="2514600"/>
            <a:ext cx="1645920" cy="457200"/>
          </a:xfrm>
          <a:prstGeom prst="rect">
            <a:avLst/>
          </a:prstGeom>
          <a:noFill/>
        </p:spPr>
        <p:txBody>
          <a:bodyPr wrap="square">
            <a:spAutoFit/>
          </a:bodyPr>
          <a:lstStyle/>
          <a:p>
            <a:pPr>
              <a:defRPr sz="1300" b="0">
                <a:solidFill>
                  <a:srgbClr val="8C98A8"/>
                </a:solidFill>
              </a:defRPr>
            </a:pPr>
            <a:r>
              <a:t>obstacles stopped</a:t>
            </a:r>
          </a:p>
        </p:txBody>
      </p:sp>
      <p:pic>
        <p:nvPicPr>
          <p:cNvPr id="19" name="Picture 18" descr="05_report.png"/>
          <p:cNvPicPr>
            <a:picLocks noChangeAspect="1"/>
          </p:cNvPicPr>
          <p:nvPr/>
        </p:nvPicPr>
        <p:blipFill>
          <a:blip r:embed="rId2"/>
          <a:stretch>
            <a:fillRect/>
          </a:stretch>
        </p:blipFill>
        <p:spPr>
          <a:xfrm>
            <a:off x="2194560" y="3291840"/>
            <a:ext cx="6014720" cy="338328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defRPr sz="1400" b="1">
                <a:solidFill>
                  <a:srgbClr val="3CBEE6"/>
                </a:solidFill>
              </a:defRPr>
            </a:pPr>
            <a:r>
              <a:t>DISCUSSION</a:t>
            </a:r>
          </a:p>
        </p:txBody>
      </p:sp>
      <p:sp>
        <p:nvSpPr>
          <p:cNvPr id="3" name="TextBox 2"/>
          <p:cNvSpPr txBox="1"/>
          <p:nvPr/>
        </p:nvSpPr>
        <p:spPr>
          <a:xfrm>
            <a:off x="548640" y="594360"/>
            <a:ext cx="10972800" cy="731520"/>
          </a:xfrm>
          <a:prstGeom prst="rect">
            <a:avLst/>
          </a:prstGeom>
          <a:noFill/>
        </p:spPr>
        <p:txBody>
          <a:bodyPr wrap="square">
            <a:spAutoFit/>
          </a:bodyPr>
          <a:lstStyle/>
          <a:p>
            <a:pPr>
              <a:defRPr sz="3200" b="1">
                <a:solidFill>
                  <a:srgbClr val="E6ECF3"/>
                </a:solidFill>
              </a:defRPr>
            </a:pPr>
            <a:r>
              <a:t>Advantages, limitations &amp; future scope</a:t>
            </a:r>
          </a:p>
        </p:txBody>
      </p:sp>
      <p:sp>
        <p:nvSpPr>
          <p:cNvPr id="4" name="TextBox 3"/>
          <p:cNvSpPr txBox="1"/>
          <p:nvPr/>
        </p:nvSpPr>
        <p:spPr>
          <a:xfrm>
            <a:off x="548640" y="1463040"/>
            <a:ext cx="3657600" cy="457200"/>
          </a:xfrm>
          <a:prstGeom prst="rect">
            <a:avLst/>
          </a:prstGeom>
          <a:noFill/>
        </p:spPr>
        <p:txBody>
          <a:bodyPr wrap="square">
            <a:spAutoFit/>
          </a:bodyPr>
          <a:lstStyle/>
          <a:p>
            <a:pPr>
              <a:defRPr sz="2000" b="1">
                <a:solidFill>
                  <a:srgbClr val="3FC878"/>
                </a:solidFill>
              </a:defRPr>
            </a:pPr>
            <a:r>
              <a:t>Advantages</a:t>
            </a:r>
          </a:p>
        </p:txBody>
      </p:sp>
      <p:sp>
        <p:nvSpPr>
          <p:cNvPr id="5" name="TextBox 4"/>
          <p:cNvSpPr txBox="1"/>
          <p:nvPr/>
        </p:nvSpPr>
        <p:spPr>
          <a:xfrm>
            <a:off x="548640" y="2011680"/>
            <a:ext cx="3657600" cy="4114800"/>
          </a:xfrm>
          <a:prstGeom prst="rect">
            <a:avLst/>
          </a:prstGeom>
          <a:noFill/>
        </p:spPr>
        <p:txBody>
          <a:bodyPr wrap="square">
            <a:spAutoFit/>
          </a:bodyPr>
          <a:lstStyle/>
          <a:p>
            <a:pPr>
              <a:spcAft>
                <a:spcPts val="1000"/>
              </a:spcAft>
            </a:pPr>
            <a:r>
              <a:rPr sz="1600" b="1">
                <a:solidFill>
                  <a:srgbClr val="E6ECF3"/>
                </a:solidFill>
              </a:rPr>
              <a:t>▸ Low cost</a:t>
            </a:r>
          </a:p>
          <a:p>
            <a:pPr>
              <a:spcAft>
                <a:spcPts val="1000"/>
              </a:spcAft>
            </a:pPr>
            <a:r>
              <a:rPr sz="1600" b="1">
                <a:solidFill>
                  <a:srgbClr val="E6ECF3"/>
                </a:solidFill>
              </a:rPr>
              <a:t>▸ Never tired, every metre recorded</a:t>
            </a:r>
          </a:p>
          <a:p>
            <a:pPr>
              <a:spcAft>
                <a:spcPts val="1000"/>
              </a:spcAft>
            </a:pPr>
            <a:r>
              <a:rPr sz="1600" b="1">
                <a:solidFill>
                  <a:srgbClr val="E6ECF3"/>
                </a:solidFill>
              </a:rPr>
              <a:t>▸ Exact location + photo</a:t>
            </a:r>
          </a:p>
          <a:p>
            <a:pPr>
              <a:spcAft>
                <a:spcPts val="1000"/>
              </a:spcAft>
            </a:pPr>
            <a:r>
              <a:rPr sz="1600" b="1">
                <a:solidFill>
                  <a:srgbClr val="E6ECF3"/>
                </a:solidFill>
              </a:rPr>
              <a:t>▸ Real-time alerts</a:t>
            </a:r>
          </a:p>
          <a:p>
            <a:pPr>
              <a:spcAft>
                <a:spcPts val="1000"/>
              </a:spcAft>
            </a:pPr>
            <a:r>
              <a:rPr sz="1600" b="1">
                <a:solidFill>
                  <a:srgbClr val="E6ECF3"/>
                </a:solidFill>
              </a:rPr>
              <a:t>▸ Fail-safe stop (ESP32 watchdog)</a:t>
            </a:r>
          </a:p>
        </p:txBody>
      </p:sp>
      <p:sp>
        <p:nvSpPr>
          <p:cNvPr id="6" name="TextBox 5"/>
          <p:cNvSpPr txBox="1"/>
          <p:nvPr/>
        </p:nvSpPr>
        <p:spPr>
          <a:xfrm>
            <a:off x="4297680" y="1463040"/>
            <a:ext cx="3657600" cy="457200"/>
          </a:xfrm>
          <a:prstGeom prst="rect">
            <a:avLst/>
          </a:prstGeom>
          <a:noFill/>
        </p:spPr>
        <p:txBody>
          <a:bodyPr wrap="square">
            <a:spAutoFit/>
          </a:bodyPr>
          <a:lstStyle/>
          <a:p>
            <a:pPr>
              <a:defRPr sz="2000" b="1">
                <a:solidFill>
                  <a:srgbClr val="F5AA28"/>
                </a:solidFill>
              </a:defRPr>
            </a:pPr>
            <a:r>
              <a:t>Limitations</a:t>
            </a:r>
          </a:p>
        </p:txBody>
      </p:sp>
      <p:sp>
        <p:nvSpPr>
          <p:cNvPr id="7" name="TextBox 6"/>
          <p:cNvSpPr txBox="1"/>
          <p:nvPr/>
        </p:nvSpPr>
        <p:spPr>
          <a:xfrm>
            <a:off x="4297680" y="2011680"/>
            <a:ext cx="3657600" cy="4114800"/>
          </a:xfrm>
          <a:prstGeom prst="rect">
            <a:avLst/>
          </a:prstGeom>
          <a:noFill/>
        </p:spPr>
        <p:txBody>
          <a:bodyPr wrap="square">
            <a:spAutoFit/>
          </a:bodyPr>
          <a:lstStyle/>
          <a:p>
            <a:pPr>
              <a:spcAft>
                <a:spcPts val="1000"/>
              </a:spcAft>
            </a:pPr>
            <a:r>
              <a:rPr sz="1600" b="1">
                <a:solidFill>
                  <a:srgbClr val="E6ECF3"/>
                </a:solidFill>
              </a:rPr>
              <a:t>▸ Surface cracks only (camera)</a:t>
            </a:r>
          </a:p>
          <a:p>
            <a:pPr>
              <a:spcAft>
                <a:spcPts val="1000"/>
              </a:spcAft>
            </a:pPr>
            <a:r>
              <a:rPr sz="1600" b="1">
                <a:solidFill>
                  <a:srgbClr val="E6ECF3"/>
                </a:solidFill>
              </a:rPr>
              <a:t>▸ Needs a maintenance block</a:t>
            </a:r>
          </a:p>
          <a:p>
            <a:pPr>
              <a:spcAft>
                <a:spcPts val="1000"/>
              </a:spcAft>
            </a:pPr>
            <a:r>
              <a:rPr sz="1600" b="1">
                <a:solidFill>
                  <a:srgbClr val="E6ECF3"/>
                </a:solidFill>
              </a:rPr>
              <a:t>▸ Rain / shadows → needs lighting</a:t>
            </a:r>
          </a:p>
        </p:txBody>
      </p:sp>
      <p:sp>
        <p:nvSpPr>
          <p:cNvPr id="8" name="TextBox 7"/>
          <p:cNvSpPr txBox="1"/>
          <p:nvPr/>
        </p:nvSpPr>
        <p:spPr>
          <a:xfrm>
            <a:off x="8046720" y="1463040"/>
            <a:ext cx="3657600" cy="457200"/>
          </a:xfrm>
          <a:prstGeom prst="rect">
            <a:avLst/>
          </a:prstGeom>
          <a:noFill/>
        </p:spPr>
        <p:txBody>
          <a:bodyPr wrap="square">
            <a:spAutoFit/>
          </a:bodyPr>
          <a:lstStyle/>
          <a:p>
            <a:pPr>
              <a:defRPr sz="2000" b="1">
                <a:solidFill>
                  <a:srgbClr val="3CBEE6"/>
                </a:solidFill>
              </a:defRPr>
            </a:pPr>
            <a:r>
              <a:t>Future scope</a:t>
            </a:r>
          </a:p>
        </p:txBody>
      </p:sp>
      <p:sp>
        <p:nvSpPr>
          <p:cNvPr id="9" name="TextBox 8"/>
          <p:cNvSpPr txBox="1"/>
          <p:nvPr/>
        </p:nvSpPr>
        <p:spPr>
          <a:xfrm>
            <a:off x="8046720" y="2011680"/>
            <a:ext cx="3840480" cy="4114800"/>
          </a:xfrm>
          <a:prstGeom prst="rect">
            <a:avLst/>
          </a:prstGeom>
          <a:noFill/>
        </p:spPr>
        <p:txBody>
          <a:bodyPr wrap="square">
            <a:spAutoFit/>
          </a:bodyPr>
          <a:lstStyle/>
          <a:p>
            <a:pPr>
              <a:spcAft>
                <a:spcPts val="1000"/>
              </a:spcAft>
            </a:pPr>
            <a:r>
              <a:rPr sz="1600" b="1">
                <a:solidFill>
                  <a:srgbClr val="E6ECF3"/>
                </a:solidFill>
              </a:rPr>
              <a:t>▸ YOLOv8 deep-learning detection</a:t>
            </a:r>
          </a:p>
          <a:p>
            <a:pPr>
              <a:spcAft>
                <a:spcPts val="1000"/>
              </a:spcAft>
            </a:pPr>
            <a:r>
              <a:rPr sz="1600" b="1">
                <a:solidFill>
                  <a:srgbClr val="E6ECF3"/>
                </a:solidFill>
              </a:rPr>
              <a:t>▸ Ultrasonic probe for internal flaws</a:t>
            </a:r>
          </a:p>
          <a:p>
            <a:pPr>
              <a:spcAft>
                <a:spcPts val="1000"/>
              </a:spcAft>
            </a:pPr>
            <a:r>
              <a:rPr sz="1600" b="1">
                <a:solidFill>
                  <a:srgbClr val="E6ECF3"/>
                </a:solidFill>
              </a:rPr>
              <a:t>▸ Laser rail-wear profile</a:t>
            </a:r>
          </a:p>
          <a:p>
            <a:pPr>
              <a:spcAft>
                <a:spcPts val="1000"/>
              </a:spcAft>
            </a:pPr>
            <a:r>
              <a:rPr sz="1600" b="1">
                <a:solidFill>
                  <a:srgbClr val="E6ECF3"/>
                </a:solidFill>
              </a:rPr>
              <a:t>▸ Missing clip / bolt detection</a:t>
            </a:r>
          </a:p>
          <a:p>
            <a:pPr>
              <a:spcAft>
                <a:spcPts val="1000"/>
              </a:spcAft>
            </a:pPr>
            <a:r>
              <a:rPr sz="1600" b="1">
                <a:solidFill>
                  <a:srgbClr val="E6ECF3"/>
                </a:solidFill>
              </a:rPr>
              <a:t>▸ Solar charging, LoRa link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defRPr sz="1400" b="1">
                <a:solidFill>
                  <a:srgbClr val="3CBEE6"/>
                </a:solidFill>
              </a:defRPr>
            </a:pPr>
            <a:r>
              <a:t>CONCLUSION</a:t>
            </a:r>
          </a:p>
        </p:txBody>
      </p:sp>
      <p:sp>
        <p:nvSpPr>
          <p:cNvPr id="3" name="TextBox 2"/>
          <p:cNvSpPr txBox="1"/>
          <p:nvPr/>
        </p:nvSpPr>
        <p:spPr>
          <a:xfrm>
            <a:off x="548640" y="594360"/>
            <a:ext cx="10972800" cy="731520"/>
          </a:xfrm>
          <a:prstGeom prst="rect">
            <a:avLst/>
          </a:prstGeom>
          <a:noFill/>
        </p:spPr>
        <p:txBody>
          <a:bodyPr wrap="square">
            <a:spAutoFit/>
          </a:bodyPr>
          <a:lstStyle/>
          <a:p>
            <a:pPr>
              <a:defRPr sz="3200" b="1">
                <a:solidFill>
                  <a:srgbClr val="E6ECF3"/>
                </a:solidFill>
              </a:defRPr>
            </a:pPr>
            <a:r>
              <a:t>Conclusion</a:t>
            </a:r>
          </a:p>
        </p:txBody>
      </p:sp>
      <p:sp>
        <p:nvSpPr>
          <p:cNvPr id="4" name="TextBox 3"/>
          <p:cNvSpPr txBox="1"/>
          <p:nvPr/>
        </p:nvSpPr>
        <p:spPr>
          <a:xfrm>
            <a:off x="731520" y="1645920"/>
            <a:ext cx="10789920" cy="4572000"/>
          </a:xfrm>
          <a:prstGeom prst="rect">
            <a:avLst/>
          </a:prstGeom>
          <a:noFill/>
        </p:spPr>
        <p:txBody>
          <a:bodyPr wrap="square">
            <a:spAutoFit/>
          </a:bodyPr>
          <a:lstStyle/>
          <a:p>
            <a:pPr>
              <a:defRPr sz="2000" b="0">
                <a:solidFill>
                  <a:srgbClr val="E6ECF3"/>
                </a:solidFill>
              </a:defRPr>
            </a:pPr>
            <a:r>
              <a:t>The project shows that a low-cost autonomous robot can inspect railway track in real time: it detects rail-head cracks with severity grading, measures track gauge to within 1 mm, and stops safely for obstacles.</a:t>
            </a:r>
          </a:p>
          <a:p>
            <a:pPr>
              <a:defRPr sz="2000" b="0">
                <a:solidFill>
                  <a:srgbClr val="E6ECF3"/>
                </a:solidFill>
              </a:defRPr>
            </a:pPr>
          </a:p>
          <a:p>
            <a:pPr>
              <a:defRPr sz="2000" b="0">
                <a:solidFill>
                  <a:srgbClr val="E6ECF3"/>
                </a:solidFill>
              </a:defRPr>
            </a:pPr>
            <a:r>
              <a:t>Every defect is recorded with exact chainage, GPS and photo evidence, and reported live to the control room. This makes track inspection faster, safer and more reliable than manual patrolling, at a fraction of the cost of track-recording cars.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defRPr sz="1400" b="1">
                <a:solidFill>
                  <a:srgbClr val="3CBEE6"/>
                </a:solidFill>
              </a:defRPr>
            </a:pPr>
            <a:r>
              <a:t>REFERENCES</a:t>
            </a:r>
          </a:p>
        </p:txBody>
      </p:sp>
      <p:sp>
        <p:nvSpPr>
          <p:cNvPr id="3" name="TextBox 2"/>
          <p:cNvSpPr txBox="1"/>
          <p:nvPr/>
        </p:nvSpPr>
        <p:spPr>
          <a:xfrm>
            <a:off x="548640" y="594360"/>
            <a:ext cx="10972800" cy="731520"/>
          </a:xfrm>
          <a:prstGeom prst="rect">
            <a:avLst/>
          </a:prstGeom>
          <a:noFill/>
        </p:spPr>
        <p:txBody>
          <a:bodyPr wrap="square">
            <a:spAutoFit/>
          </a:bodyPr>
          <a:lstStyle/>
          <a:p>
            <a:pPr>
              <a:defRPr sz="3200" b="1">
                <a:solidFill>
                  <a:srgbClr val="E6ECF3"/>
                </a:solidFill>
              </a:defRPr>
            </a:pPr>
            <a:r>
              <a:t>References</a:t>
            </a:r>
          </a:p>
        </p:txBody>
      </p:sp>
      <p:sp>
        <p:nvSpPr>
          <p:cNvPr id="4" name="TextBox 3"/>
          <p:cNvSpPr txBox="1"/>
          <p:nvPr/>
        </p:nvSpPr>
        <p:spPr>
          <a:xfrm>
            <a:off x="731520" y="1554480"/>
            <a:ext cx="10789920" cy="5029200"/>
          </a:xfrm>
          <a:prstGeom prst="rect">
            <a:avLst/>
          </a:prstGeom>
          <a:noFill/>
        </p:spPr>
        <p:txBody>
          <a:bodyPr wrap="square">
            <a:spAutoFit/>
          </a:bodyPr>
          <a:lstStyle/>
          <a:p>
            <a:pPr>
              <a:defRPr sz="1600" b="0">
                <a:solidFill>
                  <a:srgbClr val="E6ECF3"/>
                </a:solidFill>
              </a:defRPr>
            </a:pPr>
            <a:r>
              <a:t>[1] Indian Railways Permanent Way Manual (IRPWM), Ministry of Railways, Government of India.</a:t>
            </a:r>
          </a:p>
          <a:p>
            <a:pPr>
              <a:defRPr sz="1600" b="0">
                <a:solidFill>
                  <a:srgbClr val="E6ECF3"/>
                </a:solidFill>
              </a:defRPr>
            </a:pPr>
            <a:r>
              <a:t>[2] J. Gan, Q. Li, J. Wang, H. Yu, "A Hierarchical Extractor-Based Visual Rail Surface Inspection System," IEEE Sensors Journal, vol. 17, no. 23, 2017.</a:t>
            </a:r>
          </a:p>
          <a:p>
            <a:pPr>
              <a:defRPr sz="1600" b="0">
                <a:solidFill>
                  <a:srgbClr val="E6ECF3"/>
                </a:solidFill>
              </a:defRPr>
            </a:pPr>
            <a:r>
              <a:t>[3] R. C. Gonzalez, R. E. Woods, Digital Image Processing, Pearson (morphological processing).</a:t>
            </a:r>
          </a:p>
          <a:p>
            <a:pPr>
              <a:defRPr sz="1600" b="0">
                <a:solidFill>
                  <a:srgbClr val="E6ECF3"/>
                </a:solidFill>
              </a:defRPr>
            </a:pPr>
            <a:r>
              <a:t>[4] OpenCV documentation - Morphological Transformations, https://docs.opencv.org</a:t>
            </a:r>
          </a:p>
          <a:p>
            <a:pPr>
              <a:defRPr sz="1600" b="0">
                <a:solidFill>
                  <a:srgbClr val="E6ECF3"/>
                </a:solidFill>
              </a:defRPr>
            </a:pPr>
            <a:r>
              <a:t>[5] Ultralytics YOLOv8 documentation, https://docs.ultralytics.com</a:t>
            </a:r>
          </a:p>
          <a:p>
            <a:pPr>
              <a:defRPr sz="1600" b="0">
                <a:solidFill>
                  <a:srgbClr val="E6ECF3"/>
                </a:solidFill>
              </a:defRPr>
            </a:pPr>
            <a:r>
              <a:t>[6] Espressif Systems, ESP32 Technical Reference Manual.</a:t>
            </a:r>
          </a:p>
          <a:p>
            <a:pPr>
              <a:defRPr sz="1600" b="0">
                <a:solidFill>
                  <a:srgbClr val="E6ECF3"/>
                </a:solidFill>
              </a:defRPr>
            </a:pPr>
            <a:r>
              <a:t>[7] Raspberry Pi Foundation, Raspberry Pi 5 documentation.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1280160"/>
            <a:ext cx="10972800" cy="1097280"/>
          </a:xfrm>
          <a:prstGeom prst="rect">
            <a:avLst/>
          </a:prstGeom>
          <a:noFill/>
        </p:spPr>
        <p:txBody>
          <a:bodyPr wrap="square">
            <a:spAutoFit/>
          </a:bodyPr>
          <a:lstStyle/>
          <a:p>
            <a:pPr>
              <a:defRPr sz="5400" b="1">
                <a:solidFill>
                  <a:srgbClr val="E6ECF3"/>
                </a:solidFill>
              </a:defRPr>
            </a:pPr>
            <a:r>
              <a:t>Thank you</a:t>
            </a:r>
          </a:p>
        </p:txBody>
      </p:sp>
      <p:sp>
        <p:nvSpPr>
          <p:cNvPr id="3" name="TextBox 2"/>
          <p:cNvSpPr txBox="1"/>
          <p:nvPr/>
        </p:nvSpPr>
        <p:spPr>
          <a:xfrm>
            <a:off x="731520" y="2377440"/>
            <a:ext cx="10972800" cy="548640"/>
          </a:xfrm>
          <a:prstGeom prst="rect">
            <a:avLst/>
          </a:prstGeom>
          <a:noFill/>
        </p:spPr>
        <p:txBody>
          <a:bodyPr wrap="square">
            <a:spAutoFit/>
          </a:bodyPr>
          <a:lstStyle/>
          <a:p>
            <a:pPr>
              <a:defRPr sz="2200" b="0">
                <a:solidFill>
                  <a:srgbClr val="8C98A8"/>
                </a:solidFill>
              </a:defRPr>
            </a:pPr>
            <a:r>
              <a:t>Autonomous Rail Track Inspection Robot  —  Questions?</a:t>
            </a:r>
          </a:p>
        </p:txBody>
      </p:sp>
      <p:sp>
        <p:nvSpPr>
          <p:cNvPr id="4" name="TextBox 3"/>
          <p:cNvSpPr txBox="1"/>
          <p:nvPr/>
        </p:nvSpPr>
        <p:spPr>
          <a:xfrm>
            <a:off x="731520" y="3657600"/>
            <a:ext cx="3657600" cy="457200"/>
          </a:xfrm>
          <a:prstGeom prst="rect">
            <a:avLst/>
          </a:prstGeom>
          <a:noFill/>
        </p:spPr>
        <p:txBody>
          <a:bodyPr wrap="square">
            <a:spAutoFit/>
          </a:bodyPr>
          <a:lstStyle/>
          <a:p>
            <a:pPr>
              <a:defRPr sz="1800" b="1">
                <a:solidFill>
                  <a:srgbClr val="3CBEE6"/>
                </a:solidFill>
              </a:defRPr>
            </a:pPr>
            <a:r>
              <a:t>Guided by :</a:t>
            </a:r>
          </a:p>
        </p:txBody>
      </p:sp>
      <p:sp>
        <p:nvSpPr>
          <p:cNvPr id="5" name="TextBox 4"/>
          <p:cNvSpPr txBox="1"/>
          <p:nvPr/>
        </p:nvSpPr>
        <p:spPr>
          <a:xfrm>
            <a:off x="731520" y="4069080"/>
            <a:ext cx="4572000" cy="457200"/>
          </a:xfrm>
          <a:prstGeom prst="rect">
            <a:avLst/>
          </a:prstGeom>
          <a:noFill/>
        </p:spPr>
        <p:txBody>
          <a:bodyPr wrap="square">
            <a:spAutoFit/>
          </a:bodyPr>
          <a:lstStyle/>
          <a:p>
            <a:pPr>
              <a:defRPr sz="2000" b="1">
                <a:solidFill>
                  <a:srgbClr val="E6ECF3"/>
                </a:solidFill>
              </a:defRPr>
            </a:pPr>
            <a:r>
              <a:t>Vincy Leena</a:t>
            </a:r>
          </a:p>
        </p:txBody>
      </p:sp>
      <p:sp>
        <p:nvSpPr>
          <p:cNvPr id="6" name="TextBox 5"/>
          <p:cNvSpPr txBox="1"/>
          <p:nvPr/>
        </p:nvSpPr>
        <p:spPr>
          <a:xfrm>
            <a:off x="6766560" y="3657600"/>
            <a:ext cx="4572000" cy="457200"/>
          </a:xfrm>
          <a:prstGeom prst="rect">
            <a:avLst/>
          </a:prstGeom>
          <a:noFill/>
        </p:spPr>
        <p:txBody>
          <a:bodyPr wrap="square">
            <a:spAutoFit/>
          </a:bodyPr>
          <a:lstStyle/>
          <a:p>
            <a:pPr>
              <a:defRPr sz="1800" b="1">
                <a:solidFill>
                  <a:srgbClr val="3CBEE6"/>
                </a:solidFill>
              </a:defRPr>
            </a:pPr>
            <a:r>
              <a:t>Presented by :</a:t>
            </a:r>
          </a:p>
        </p:txBody>
      </p:sp>
      <p:sp>
        <p:nvSpPr>
          <p:cNvPr id="7" name="TextBox 6"/>
          <p:cNvSpPr txBox="1"/>
          <p:nvPr/>
        </p:nvSpPr>
        <p:spPr>
          <a:xfrm>
            <a:off x="6766560" y="4069080"/>
            <a:ext cx="5120640" cy="457200"/>
          </a:xfrm>
          <a:prstGeom prst="rect">
            <a:avLst/>
          </a:prstGeom>
          <a:noFill/>
        </p:spPr>
        <p:txBody>
          <a:bodyPr wrap="square">
            <a:spAutoFit/>
          </a:bodyPr>
          <a:lstStyle/>
          <a:p>
            <a:pPr>
              <a:defRPr sz="1800" b="1">
                <a:solidFill>
                  <a:srgbClr val="E6ECF3"/>
                </a:solidFill>
              </a:defRPr>
            </a:pPr>
            <a:r>
              <a:t>Gouthaman A  (8115U23IT032)</a:t>
            </a:r>
          </a:p>
        </p:txBody>
      </p:sp>
      <p:sp>
        <p:nvSpPr>
          <p:cNvPr id="8" name="TextBox 7"/>
          <p:cNvSpPr txBox="1"/>
          <p:nvPr/>
        </p:nvSpPr>
        <p:spPr>
          <a:xfrm>
            <a:off x="6766560" y="4480560"/>
            <a:ext cx="5120640" cy="457200"/>
          </a:xfrm>
          <a:prstGeom prst="rect">
            <a:avLst/>
          </a:prstGeom>
          <a:noFill/>
        </p:spPr>
        <p:txBody>
          <a:bodyPr wrap="square">
            <a:spAutoFit/>
          </a:bodyPr>
          <a:lstStyle/>
          <a:p>
            <a:pPr>
              <a:defRPr sz="1800" b="1">
                <a:solidFill>
                  <a:srgbClr val="E6ECF3"/>
                </a:solidFill>
              </a:defRPr>
            </a:pPr>
            <a:r>
              <a:t>Jayaprakash T  (8115U23IT041)</a:t>
            </a:r>
          </a:p>
        </p:txBody>
      </p:sp>
      <p:sp>
        <p:nvSpPr>
          <p:cNvPr id="9" name="TextBox 8"/>
          <p:cNvSpPr txBox="1"/>
          <p:nvPr/>
        </p:nvSpPr>
        <p:spPr>
          <a:xfrm>
            <a:off x="6766560" y="4892040"/>
            <a:ext cx="5120640" cy="457200"/>
          </a:xfrm>
          <a:prstGeom prst="rect">
            <a:avLst/>
          </a:prstGeom>
          <a:noFill/>
        </p:spPr>
        <p:txBody>
          <a:bodyPr wrap="square">
            <a:spAutoFit/>
          </a:bodyPr>
          <a:lstStyle/>
          <a:p>
            <a:pPr>
              <a:defRPr sz="1800" b="1">
                <a:solidFill>
                  <a:srgbClr val="E6ECF3"/>
                </a:solidFill>
              </a:defRPr>
            </a:pPr>
            <a:r>
              <a:t>John Adan J R  (8115U23IT046)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